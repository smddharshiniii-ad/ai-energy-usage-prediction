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72"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c:v>
                </c:pt>
              </c:strCache>
            </c:strRef>
          </c:tx>
          <c:spPr>
            <a:ln w="38100" cap="flat">
              <a:solidFill>
                <a:srgbClr val="1B6B7A"/>
              </a:solidFill>
              <a:prstDash val="solid"/>
              <a:round/>
            </a:ln>
            <a:effectLst/>
          </c:spPr>
          <c:marker>
            <c:symbol val="none"/>
          </c:marker>
          <c:cat>
            <c:strRef>
              <c:f>Sheet1!$A$2:$A$9</c:f>
              <c:strCache>
                <c:ptCount val="8"/>
                <c:pt idx="0">
                  <c:v>00</c:v>
                </c:pt>
                <c:pt idx="1">
                  <c:v>03</c:v>
                </c:pt>
                <c:pt idx="2">
                  <c:v>06</c:v>
                </c:pt>
                <c:pt idx="3">
                  <c:v>09</c:v>
                </c:pt>
                <c:pt idx="4">
                  <c:v>12</c:v>
                </c:pt>
                <c:pt idx="5">
                  <c:v>15</c:v>
                </c:pt>
                <c:pt idx="6">
                  <c:v>18</c:v>
                </c:pt>
                <c:pt idx="7">
                  <c:v>21</c:v>
                </c:pt>
              </c:strCache>
            </c:strRef>
          </c:cat>
          <c:val>
            <c:numRef>
              <c:f>Sheet1!$B$2:$B$9</c:f>
              <c:numCache>
                <c:formatCode>General</c:formatCode>
                <c:ptCount val="8"/>
                <c:pt idx="0">
                  <c:v>18</c:v>
                </c:pt>
                <c:pt idx="1">
                  <c:v>15</c:v>
                </c:pt>
                <c:pt idx="2">
                  <c:v>22</c:v>
                </c:pt>
                <c:pt idx="3">
                  <c:v>62</c:v>
                </c:pt>
                <c:pt idx="4">
                  <c:v>71</c:v>
                </c:pt>
                <c:pt idx="5">
                  <c:v>66</c:v>
                </c:pt>
                <c:pt idx="6">
                  <c:v>45</c:v>
                </c:pt>
                <c:pt idx="7">
                  <c:v>26</c:v>
                </c:pt>
              </c:numCache>
            </c:numRef>
          </c:val>
          <c:smooth val="0"/>
          <c:extLst>
            <c:ext xmlns:c16="http://schemas.microsoft.com/office/drawing/2014/chart" uri="{C3380CC4-5D6E-409C-BE32-E72D297353CC}">
              <c16:uniqueId val="{00000000-9889-4D98-9B15-97E7765790F7}"/>
            </c:ext>
          </c:extLst>
        </c:ser>
        <c:ser>
          <c:idx val="1"/>
          <c:order val="1"/>
          <c:tx>
            <c:strRef>
              <c:f>Sheet1!$C$1</c:f>
              <c:strCache>
                <c:ptCount val="1"/>
                <c:pt idx="0">
                  <c:v>Predicted</c:v>
                </c:pt>
              </c:strCache>
            </c:strRef>
          </c:tx>
          <c:spPr>
            <a:ln w="38100" cap="flat">
              <a:solidFill>
                <a:srgbClr val="F0A202"/>
              </a:solidFill>
              <a:prstDash val="solid"/>
              <a:round/>
            </a:ln>
            <a:effectLst/>
          </c:spPr>
          <c:marker>
            <c:symbol val="none"/>
          </c:marker>
          <c:cat>
            <c:strRef>
              <c:f>Sheet1!$A$2:$A$9</c:f>
              <c:strCache>
                <c:ptCount val="8"/>
                <c:pt idx="0">
                  <c:v>00</c:v>
                </c:pt>
                <c:pt idx="1">
                  <c:v>03</c:v>
                </c:pt>
                <c:pt idx="2">
                  <c:v>06</c:v>
                </c:pt>
                <c:pt idx="3">
                  <c:v>09</c:v>
                </c:pt>
                <c:pt idx="4">
                  <c:v>12</c:v>
                </c:pt>
                <c:pt idx="5">
                  <c:v>15</c:v>
                </c:pt>
                <c:pt idx="6">
                  <c:v>18</c:v>
                </c:pt>
                <c:pt idx="7">
                  <c:v>21</c:v>
                </c:pt>
              </c:strCache>
            </c:strRef>
          </c:cat>
          <c:val>
            <c:numRef>
              <c:f>Sheet1!$C$2:$C$9</c:f>
              <c:numCache>
                <c:formatCode>General</c:formatCode>
                <c:ptCount val="8"/>
                <c:pt idx="0">
                  <c:v>19</c:v>
                </c:pt>
                <c:pt idx="1">
                  <c:v>16</c:v>
                </c:pt>
                <c:pt idx="2">
                  <c:v>24</c:v>
                </c:pt>
                <c:pt idx="3">
                  <c:v>58</c:v>
                </c:pt>
                <c:pt idx="4">
                  <c:v>68</c:v>
                </c:pt>
                <c:pt idx="5">
                  <c:v>68</c:v>
                </c:pt>
                <c:pt idx="6">
                  <c:v>47</c:v>
                </c:pt>
                <c:pt idx="7">
                  <c:v>28</c:v>
                </c:pt>
              </c:numCache>
            </c:numRef>
          </c:val>
          <c:smooth val="0"/>
          <c:extLst>
            <c:ext xmlns:c16="http://schemas.microsoft.com/office/drawing/2014/chart" uri="{C3380CC4-5D6E-409C-BE32-E72D297353CC}">
              <c16:uniqueId val="{00000001-9889-4D98-9B15-97E7765790F7}"/>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AEC"/>
              </a:solidFill>
              <a:prstDash val="solid"/>
              <a:round/>
            </a:ln>
          </c:spPr>
        </c:majorGridlines>
        <c:title>
          <c:tx>
            <c:rich>
              <a:bodyPr/>
              <a:lstStyle/>
              <a:p>
                <a:pPr>
                  <a:defRPr sz="1000" b="0" i="0" u="none" strike="noStrike">
                    <a:solidFill>
                      <a:srgbClr val="5A6B73"/>
                    </a:solidFill>
                    <a:latin typeface="Arial"/>
                  </a:defRPr>
                </a:pPr>
                <a:r>
                  <a:rPr lang="en-IN" sz="1000" b="0" i="0" u="none" strike="noStrike">
                    <a:solidFill>
                      <a:srgbClr val="5A6B73"/>
                    </a:solidFill>
                    <a:latin typeface="Arial"/>
                  </a:rPr>
                  <a:t>kWh</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29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in one line: I am predicting how much electricity a building will use, before it uses it. Mention that the bill is the only feedback most institutions get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honest. These are observations, not measurements. Say clearly that the numbers here are what I noticed, not metered readings.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boxed statement out loud slowly. It is the anchor of the whole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five matters most in a viva. Say that the accuracy figure is a target, not a claimed result.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must feel natural. Each answer becomes the next question. The root cause is a data usage problem, not a hardware problem, and that is why software is the right fix.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existing options. They are not bad, they answer a different question. Our question is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my own judgement on a 1 to 5 scale, not measured values. If asked, explain the reasoning behind idea 9 scoring low: a digital twin needs building data we do not have.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five blocks, then point to the feedback loop and say that this is what makes it a system rather than a one time experiment.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chart is a sample shape, not real output. Examiners respect that more than an invented result.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limit line. Then read the declaration as written.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594360" y="685800"/>
            <a:ext cx="457200" cy="457200"/>
          </a:xfrm>
          <a:prstGeom prst="ellipse">
            <a:avLst/>
          </a:prstGeom>
          <a:solidFill>
            <a:srgbClr val="F0A202"/>
          </a:solidFill>
          <a:ln/>
        </p:spPr>
      </p:sp>
      <p:sp>
        <p:nvSpPr>
          <p:cNvPr id="3" name="Text 1"/>
          <p:cNvSpPr txBox="1"/>
          <p:nvPr/>
        </p:nvSpPr>
        <p:spPr>
          <a:xfrm>
            <a:off x="594360" y="685800"/>
            <a:ext cx="457200" cy="457200"/>
          </a:xfrm>
          <a:prstGeom prst="rect">
            <a:avLst/>
          </a:prstGeom>
          <a:noFill/>
          <a:ln/>
        </p:spPr>
        <p:txBody>
          <a:bodyPr wrap="square" lIns="0" tIns="0" rIns="0" bIns="0" rtlCol="0" anchor="ctr"/>
          <a:lstStyle/>
          <a:p>
            <a:pPr marL="0" indent="0" algn="ctr">
              <a:buNone/>
            </a:pPr>
            <a:r>
              <a:rPr lang="en-US" sz="1200" b="1" dirty="0">
                <a:solidFill>
                  <a:srgbClr val="0E2A38"/>
                </a:solidFill>
                <a:latin typeface="Calibri" pitchFamily="34" charset="0"/>
                <a:ea typeface="Calibri" pitchFamily="34" charset="-122"/>
                <a:cs typeface="Calibri" pitchFamily="34" charset="-120"/>
              </a:rPr>
              <a:t>AI</a:t>
            </a:r>
            <a:endParaRPr lang="en-US" sz="1200" dirty="0"/>
          </a:p>
        </p:txBody>
      </p:sp>
      <p:sp>
        <p:nvSpPr>
          <p:cNvPr id="4" name="Text 2"/>
          <p:cNvSpPr txBox="1"/>
          <p:nvPr/>
        </p:nvSpPr>
        <p:spPr>
          <a:xfrm>
            <a:off x="594360" y="1417320"/>
            <a:ext cx="877824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AI Energy Usage Prediction</a:t>
            </a:r>
            <a:endParaRPr lang="en-US" sz="4600" dirty="0"/>
          </a:p>
        </p:txBody>
      </p:sp>
      <p:sp>
        <p:nvSpPr>
          <p:cNvPr id="5" name="Text 3"/>
          <p:cNvSpPr txBox="1"/>
          <p:nvPr/>
        </p:nvSpPr>
        <p:spPr>
          <a:xfrm>
            <a:off x="594360" y="2377440"/>
            <a:ext cx="8412480" cy="457200"/>
          </a:xfrm>
          <a:prstGeom prst="rect">
            <a:avLst/>
          </a:prstGeom>
          <a:noFill/>
          <a:ln/>
        </p:spPr>
        <p:txBody>
          <a:bodyPr wrap="square" lIns="0" tIns="0" rIns="0" bIns="0" rtlCol="0" anchor="ctr"/>
          <a:lstStyle/>
          <a:p>
            <a:pPr marL="0" indent="0">
              <a:buNone/>
            </a:pPr>
            <a:r>
              <a:rPr lang="en-US" sz="1800" dirty="0">
                <a:solidFill>
                  <a:srgbClr val="F0A202"/>
                </a:solidFill>
                <a:latin typeface="Calibri" pitchFamily="34" charset="0"/>
                <a:ea typeface="Calibri" pitchFamily="34" charset="-122"/>
                <a:cs typeface="Calibri" pitchFamily="34" charset="-120"/>
              </a:rPr>
              <a:t>Forecasting building electricity demand before the bill arrives</a:t>
            </a:r>
            <a:endParaRPr lang="en-US" sz="1800" dirty="0"/>
          </a:p>
        </p:txBody>
      </p:sp>
      <p:sp>
        <p:nvSpPr>
          <p:cNvPr id="6" name="Text 4"/>
          <p:cNvSpPr txBox="1"/>
          <p:nvPr/>
        </p:nvSpPr>
        <p:spPr>
          <a:xfrm>
            <a:off x="594360" y="3017520"/>
            <a:ext cx="45720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By Dharshini</a:t>
            </a:r>
            <a:endParaRPr lang="en-US" sz="1700" dirty="0"/>
          </a:p>
        </p:txBody>
      </p:sp>
      <p:sp>
        <p:nvSpPr>
          <p:cNvPr id="7" name="Text 5"/>
          <p:cNvSpPr txBox="1"/>
          <p:nvPr/>
        </p:nvSpPr>
        <p:spPr>
          <a:xfrm>
            <a:off x="594360" y="3401568"/>
            <a:ext cx="4572000" cy="320040"/>
          </a:xfrm>
          <a:prstGeom prst="rect">
            <a:avLst/>
          </a:prstGeom>
          <a:noFill/>
          <a:ln/>
        </p:spPr>
        <p:txBody>
          <a:bodyPr wrap="square" lIns="0" tIns="0" rIns="0" bIns="0" rtlCol="0" anchor="ctr"/>
          <a:lstStyle/>
          <a:p>
            <a:pPr marL="0" indent="0">
              <a:buNone/>
            </a:pPr>
            <a:r>
              <a:rPr lang="en-US" sz="1300" dirty="0">
                <a:solidFill>
                  <a:srgbClr val="AFC3CC"/>
                </a:solidFill>
                <a:latin typeface="Calibri" pitchFamily="34" charset="0"/>
                <a:ea typeface="Calibri" pitchFamily="34" charset="-122"/>
                <a:cs typeface="Calibri" pitchFamily="34" charset="-120"/>
              </a:rPr>
              <a:t>Computer Science Department</a:t>
            </a:r>
            <a:endParaRPr lang="en-US" sz="1300" dirty="0"/>
          </a:p>
        </p:txBody>
      </p:sp>
      <p:sp>
        <p:nvSpPr>
          <p:cNvPr id="8" name="Shape 6"/>
          <p:cNvSpPr/>
          <p:nvPr/>
        </p:nvSpPr>
        <p:spPr>
          <a:xfrm>
            <a:off x="594360" y="4160520"/>
            <a:ext cx="3429000" cy="1600200"/>
          </a:xfrm>
          <a:prstGeom prst="roundRect">
            <a:avLst>
              <a:gd name="adj" fmla="val 4571"/>
            </a:avLst>
          </a:prstGeom>
          <a:solidFill>
            <a:srgbClr val="1B6B7A"/>
          </a:solidFill>
          <a:ln/>
        </p:spPr>
      </p:sp>
      <p:sp>
        <p:nvSpPr>
          <p:cNvPr id="9" name="Text 7"/>
          <p:cNvSpPr txBox="1"/>
          <p:nvPr/>
        </p:nvSpPr>
        <p:spPr>
          <a:xfrm>
            <a:off x="822960" y="4343400"/>
            <a:ext cx="2971800" cy="292608"/>
          </a:xfrm>
          <a:prstGeom prst="rect">
            <a:avLst/>
          </a:prstGeom>
          <a:noFill/>
          <a:ln/>
        </p:spPr>
        <p:txBody>
          <a:bodyPr wrap="square" lIns="0" tIns="0" rIns="0" bIns="0" rtlCol="0" anchor="ctr"/>
          <a:lstStyle/>
          <a:p>
            <a:pPr marL="0" indent="0">
              <a:buNone/>
            </a:pPr>
            <a:r>
              <a:rPr lang="en-US" sz="1300" b="1" dirty="0">
                <a:solidFill>
                  <a:srgbClr val="F0A202"/>
                </a:solidFill>
                <a:latin typeface="Calibri" pitchFamily="34" charset="0"/>
                <a:ea typeface="Calibri" pitchFamily="34" charset="-122"/>
                <a:cs typeface="Calibri" pitchFamily="34" charset="-120"/>
              </a:rPr>
              <a:t>Why this topic</a:t>
            </a:r>
            <a:endParaRPr lang="en-US" sz="1300" dirty="0"/>
          </a:p>
        </p:txBody>
      </p:sp>
      <p:sp>
        <p:nvSpPr>
          <p:cNvPr id="10" name="Text 8"/>
          <p:cNvSpPr txBox="1"/>
          <p:nvPr/>
        </p:nvSpPr>
        <p:spPr>
          <a:xfrm>
            <a:off x="822960" y="4617720"/>
            <a:ext cx="3017520" cy="9144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Electricity is billed only after it is spent. By then no correction is possible.</a:t>
            </a:r>
            <a:endParaRPr lang="en-US" sz="1150" dirty="0"/>
          </a:p>
        </p:txBody>
      </p:sp>
      <p:sp>
        <p:nvSpPr>
          <p:cNvPr id="11" name="Shape 9"/>
          <p:cNvSpPr/>
          <p:nvPr/>
        </p:nvSpPr>
        <p:spPr>
          <a:xfrm>
            <a:off x="4343400" y="4160520"/>
            <a:ext cx="3429000" cy="1600200"/>
          </a:xfrm>
          <a:prstGeom prst="roundRect">
            <a:avLst>
              <a:gd name="adj" fmla="val 4571"/>
            </a:avLst>
          </a:prstGeom>
          <a:solidFill>
            <a:srgbClr val="1B6B7A"/>
          </a:solidFill>
          <a:ln/>
        </p:spPr>
      </p:sp>
      <p:sp>
        <p:nvSpPr>
          <p:cNvPr id="12" name="Text 10"/>
          <p:cNvSpPr txBox="1"/>
          <p:nvPr/>
        </p:nvSpPr>
        <p:spPr>
          <a:xfrm>
            <a:off x="4572000" y="4343400"/>
            <a:ext cx="2971800" cy="292608"/>
          </a:xfrm>
          <a:prstGeom prst="rect">
            <a:avLst/>
          </a:prstGeom>
          <a:noFill/>
          <a:ln/>
        </p:spPr>
        <p:txBody>
          <a:bodyPr wrap="square" lIns="0" tIns="0" rIns="0" bIns="0" rtlCol="0" anchor="ctr"/>
          <a:lstStyle/>
          <a:p>
            <a:pPr marL="0" indent="0">
              <a:buNone/>
            </a:pPr>
            <a:r>
              <a:rPr lang="en-US" sz="1300" b="1" dirty="0">
                <a:solidFill>
                  <a:srgbClr val="F0A202"/>
                </a:solidFill>
                <a:latin typeface="Calibri" pitchFamily="34" charset="0"/>
                <a:ea typeface="Calibri" pitchFamily="34" charset="-122"/>
                <a:cs typeface="Calibri" pitchFamily="34" charset="-120"/>
              </a:rPr>
              <a:t>Where it hurts</a:t>
            </a:r>
            <a:endParaRPr lang="en-US" sz="1300" dirty="0"/>
          </a:p>
        </p:txBody>
      </p:sp>
      <p:sp>
        <p:nvSpPr>
          <p:cNvPr id="13" name="Text 11"/>
          <p:cNvSpPr txBox="1"/>
          <p:nvPr/>
        </p:nvSpPr>
        <p:spPr>
          <a:xfrm>
            <a:off x="4572000" y="4617720"/>
            <a:ext cx="3017520" cy="9144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Campus blocks, labs and hostels run long hours with no room level visibility.</a:t>
            </a:r>
            <a:endParaRPr lang="en-US" sz="1150" dirty="0"/>
          </a:p>
        </p:txBody>
      </p:sp>
      <p:sp>
        <p:nvSpPr>
          <p:cNvPr id="14" name="Shape 12"/>
          <p:cNvSpPr/>
          <p:nvPr/>
        </p:nvSpPr>
        <p:spPr>
          <a:xfrm>
            <a:off x="8092440" y="4160520"/>
            <a:ext cx="3429000" cy="1600200"/>
          </a:xfrm>
          <a:prstGeom prst="roundRect">
            <a:avLst>
              <a:gd name="adj" fmla="val 4571"/>
            </a:avLst>
          </a:prstGeom>
          <a:solidFill>
            <a:srgbClr val="1B6B7A"/>
          </a:solidFill>
          <a:ln/>
        </p:spPr>
      </p:sp>
      <p:sp>
        <p:nvSpPr>
          <p:cNvPr id="15" name="Text 13"/>
          <p:cNvSpPr txBox="1"/>
          <p:nvPr/>
        </p:nvSpPr>
        <p:spPr>
          <a:xfrm>
            <a:off x="8321040" y="4343400"/>
            <a:ext cx="2971800" cy="292608"/>
          </a:xfrm>
          <a:prstGeom prst="rect">
            <a:avLst/>
          </a:prstGeom>
          <a:noFill/>
          <a:ln/>
        </p:spPr>
        <p:txBody>
          <a:bodyPr wrap="square" lIns="0" tIns="0" rIns="0" bIns="0" rtlCol="0" anchor="ctr"/>
          <a:lstStyle/>
          <a:p>
            <a:pPr marL="0" indent="0">
              <a:buNone/>
            </a:pPr>
            <a:r>
              <a:rPr lang="en-US" sz="1300" b="1" dirty="0">
                <a:solidFill>
                  <a:srgbClr val="F0A202"/>
                </a:solidFill>
                <a:latin typeface="Calibri" pitchFamily="34" charset="0"/>
                <a:ea typeface="Calibri" pitchFamily="34" charset="-122"/>
                <a:cs typeface="Calibri" pitchFamily="34" charset="-120"/>
              </a:rPr>
              <a:t>What AI adds</a:t>
            </a:r>
            <a:endParaRPr lang="en-US" sz="1300" dirty="0"/>
          </a:p>
        </p:txBody>
      </p:sp>
      <p:sp>
        <p:nvSpPr>
          <p:cNvPr id="16" name="Text 14"/>
          <p:cNvSpPr txBox="1"/>
          <p:nvPr/>
        </p:nvSpPr>
        <p:spPr>
          <a:xfrm>
            <a:off x="8321040" y="4617720"/>
            <a:ext cx="3017520" cy="9144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model can learn usage patterns and warn about a spike before it happens.</a:t>
            </a:r>
            <a:endParaRPr lang="en-US" sz="1150" dirty="0"/>
          </a:p>
        </p:txBody>
      </p:sp>
      <p:sp>
        <p:nvSpPr>
          <p:cNvPr id="17" name="Text 15"/>
          <p:cNvSpPr txBox="1"/>
          <p:nvPr/>
        </p:nvSpPr>
        <p:spPr>
          <a:xfrm>
            <a:off x="594360" y="6080760"/>
            <a:ext cx="5486400" cy="274320"/>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What I Saw in the Field</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Observations taken over two weeks across classrooms, labs and the department office</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6" name="Shape 4"/>
          <p:cNvSpPr/>
          <p:nvPr/>
        </p:nvSpPr>
        <p:spPr>
          <a:xfrm>
            <a:off x="594360" y="1600200"/>
            <a:ext cx="5257800" cy="1691640"/>
          </a:xfrm>
          <a:prstGeom prst="roundRect">
            <a:avLst>
              <a:gd name="adj" fmla="val 4324"/>
            </a:avLst>
          </a:prstGeom>
          <a:solidFill>
            <a:srgbClr val="F3F6F7"/>
          </a:solidFill>
          <a:ln/>
          <a:effectLst>
            <a:outerShdw blurRad="101600" dist="12700" dir="5400000" algn="bl" rotWithShape="0">
              <a:srgbClr val="BFCBD1">
                <a:alpha val="50000"/>
              </a:srgbClr>
            </a:outerShdw>
          </a:effectLst>
        </p:spPr>
      </p:sp>
      <p:sp>
        <p:nvSpPr>
          <p:cNvPr id="7" name="Shape 5"/>
          <p:cNvSpPr/>
          <p:nvPr/>
        </p:nvSpPr>
        <p:spPr>
          <a:xfrm>
            <a:off x="868680" y="1874520"/>
            <a:ext cx="384048" cy="384048"/>
          </a:xfrm>
          <a:prstGeom prst="ellipse">
            <a:avLst/>
          </a:prstGeom>
          <a:solidFill>
            <a:srgbClr val="F0A202"/>
          </a:solidFill>
          <a:ln/>
        </p:spPr>
      </p:sp>
      <p:sp>
        <p:nvSpPr>
          <p:cNvPr id="8" name="Text 6"/>
          <p:cNvSpPr txBox="1"/>
          <p:nvPr/>
        </p:nvSpPr>
        <p:spPr>
          <a:xfrm>
            <a:off x="868680"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399032" y="1874520"/>
            <a:ext cx="4206240" cy="36576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Lights and fans stay on</a:t>
            </a:r>
            <a:endParaRPr lang="en-US" sz="1500" dirty="0"/>
          </a:p>
        </p:txBody>
      </p:sp>
      <p:sp>
        <p:nvSpPr>
          <p:cNvPr id="10" name="Text 8"/>
          <p:cNvSpPr txBox="1"/>
          <p:nvPr/>
        </p:nvSpPr>
        <p:spPr>
          <a:xfrm>
            <a:off x="1399032" y="2286000"/>
            <a:ext cx="4206240" cy="91440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Rooms stay powered for 30 to 60 minutes after the last class leaves, because switching off is nobody's fixed duty.</a:t>
            </a:r>
            <a:endParaRPr lang="en-US" sz="1150" dirty="0"/>
          </a:p>
        </p:txBody>
      </p:sp>
      <p:sp>
        <p:nvSpPr>
          <p:cNvPr id="11" name="Shape 9"/>
          <p:cNvSpPr/>
          <p:nvPr/>
        </p:nvSpPr>
        <p:spPr>
          <a:xfrm>
            <a:off x="6172200" y="1600200"/>
            <a:ext cx="5257800" cy="1691640"/>
          </a:xfrm>
          <a:prstGeom prst="roundRect">
            <a:avLst>
              <a:gd name="adj" fmla="val 4324"/>
            </a:avLst>
          </a:prstGeom>
          <a:solidFill>
            <a:srgbClr val="F3F6F7"/>
          </a:solidFill>
          <a:ln/>
          <a:effectLst>
            <a:outerShdw blurRad="101600" dist="12700" dir="5400000" algn="bl" rotWithShape="0">
              <a:srgbClr val="BFCBD1">
                <a:alpha val="50000"/>
              </a:srgbClr>
            </a:outerShdw>
          </a:effectLst>
        </p:spPr>
      </p:sp>
      <p:sp>
        <p:nvSpPr>
          <p:cNvPr id="12" name="Shape 10"/>
          <p:cNvSpPr/>
          <p:nvPr/>
        </p:nvSpPr>
        <p:spPr>
          <a:xfrm>
            <a:off x="6446520" y="1874520"/>
            <a:ext cx="384048" cy="384048"/>
          </a:xfrm>
          <a:prstGeom prst="ellipse">
            <a:avLst/>
          </a:prstGeom>
          <a:solidFill>
            <a:srgbClr val="F0A202"/>
          </a:solidFill>
          <a:ln/>
        </p:spPr>
      </p:sp>
      <p:sp>
        <p:nvSpPr>
          <p:cNvPr id="13" name="Text 11"/>
          <p:cNvSpPr txBox="1"/>
          <p:nvPr/>
        </p:nvSpPr>
        <p:spPr>
          <a:xfrm>
            <a:off x="6446520" y="18745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6976872" y="1874520"/>
            <a:ext cx="4206240" cy="36576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ACs run in empty labs</a:t>
            </a:r>
            <a:endParaRPr lang="en-US" sz="1500" dirty="0"/>
          </a:p>
        </p:txBody>
      </p:sp>
      <p:sp>
        <p:nvSpPr>
          <p:cNvPr id="15" name="Text 13"/>
          <p:cNvSpPr txBox="1"/>
          <p:nvPr/>
        </p:nvSpPr>
        <p:spPr>
          <a:xfrm>
            <a:off x="6976872" y="2286000"/>
            <a:ext cx="4206240" cy="91440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Systems labs are cooled through the lunch break even when no practical is scheduled.</a:t>
            </a:r>
            <a:endParaRPr lang="en-US" sz="1150" dirty="0"/>
          </a:p>
        </p:txBody>
      </p:sp>
      <p:sp>
        <p:nvSpPr>
          <p:cNvPr id="16" name="Shape 14"/>
          <p:cNvSpPr/>
          <p:nvPr/>
        </p:nvSpPr>
        <p:spPr>
          <a:xfrm>
            <a:off x="594360" y="3566160"/>
            <a:ext cx="5257800" cy="1691640"/>
          </a:xfrm>
          <a:prstGeom prst="roundRect">
            <a:avLst>
              <a:gd name="adj" fmla="val 4324"/>
            </a:avLst>
          </a:prstGeom>
          <a:solidFill>
            <a:srgbClr val="F3F6F7"/>
          </a:solidFill>
          <a:ln/>
          <a:effectLst>
            <a:outerShdw blurRad="101600" dist="12700" dir="5400000" algn="bl" rotWithShape="0">
              <a:srgbClr val="BFCBD1">
                <a:alpha val="50000"/>
              </a:srgbClr>
            </a:outerShdw>
          </a:effectLst>
        </p:spPr>
      </p:sp>
      <p:sp>
        <p:nvSpPr>
          <p:cNvPr id="17" name="Shape 15"/>
          <p:cNvSpPr/>
          <p:nvPr/>
        </p:nvSpPr>
        <p:spPr>
          <a:xfrm>
            <a:off x="868680" y="3840480"/>
            <a:ext cx="384048" cy="384048"/>
          </a:xfrm>
          <a:prstGeom prst="ellipse">
            <a:avLst/>
          </a:prstGeom>
          <a:solidFill>
            <a:srgbClr val="F0A202"/>
          </a:solidFill>
          <a:ln/>
        </p:spPr>
      </p:sp>
      <p:sp>
        <p:nvSpPr>
          <p:cNvPr id="18" name="Text 16"/>
          <p:cNvSpPr txBox="1"/>
          <p:nvPr/>
        </p:nvSpPr>
        <p:spPr>
          <a:xfrm>
            <a:off x="868680" y="38404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399032" y="3840480"/>
            <a:ext cx="4206240" cy="36576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One bill, one number</a:t>
            </a:r>
            <a:endParaRPr lang="en-US" sz="1500" dirty="0"/>
          </a:p>
        </p:txBody>
      </p:sp>
      <p:sp>
        <p:nvSpPr>
          <p:cNvPr id="20" name="Text 18"/>
          <p:cNvSpPr txBox="1"/>
          <p:nvPr/>
        </p:nvSpPr>
        <p:spPr>
          <a:xfrm>
            <a:off x="1399032" y="4251960"/>
            <a:ext cx="4206240" cy="91440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The whole block gets a single monthly bill. Nobody can say which floor or which day caused a jump.</a:t>
            </a:r>
            <a:endParaRPr lang="en-US" sz="1150" dirty="0"/>
          </a:p>
        </p:txBody>
      </p:sp>
      <p:sp>
        <p:nvSpPr>
          <p:cNvPr id="21" name="Shape 19"/>
          <p:cNvSpPr/>
          <p:nvPr/>
        </p:nvSpPr>
        <p:spPr>
          <a:xfrm>
            <a:off x="6172200" y="3566160"/>
            <a:ext cx="5257800" cy="1691640"/>
          </a:xfrm>
          <a:prstGeom prst="roundRect">
            <a:avLst>
              <a:gd name="adj" fmla="val 4324"/>
            </a:avLst>
          </a:prstGeom>
          <a:solidFill>
            <a:srgbClr val="F3F6F7"/>
          </a:solidFill>
          <a:ln/>
          <a:effectLst>
            <a:outerShdw blurRad="101600" dist="12700" dir="5400000" algn="bl" rotWithShape="0">
              <a:srgbClr val="BFCBD1">
                <a:alpha val="50000"/>
              </a:srgbClr>
            </a:outerShdw>
          </a:effectLst>
        </p:spPr>
      </p:sp>
      <p:sp>
        <p:nvSpPr>
          <p:cNvPr id="22" name="Shape 20"/>
          <p:cNvSpPr/>
          <p:nvPr/>
        </p:nvSpPr>
        <p:spPr>
          <a:xfrm>
            <a:off x="6446520" y="3840480"/>
            <a:ext cx="384048" cy="384048"/>
          </a:xfrm>
          <a:prstGeom prst="ellipse">
            <a:avLst/>
          </a:prstGeom>
          <a:solidFill>
            <a:srgbClr val="F0A202"/>
          </a:solidFill>
          <a:ln/>
        </p:spPr>
      </p:sp>
      <p:sp>
        <p:nvSpPr>
          <p:cNvPr id="23" name="Text 21"/>
          <p:cNvSpPr txBox="1"/>
          <p:nvPr/>
        </p:nvSpPr>
        <p:spPr>
          <a:xfrm>
            <a:off x="6446520" y="38404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6976872" y="3840480"/>
            <a:ext cx="4206240" cy="36576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Problems found late</a:t>
            </a:r>
            <a:endParaRPr lang="en-US" sz="1500" dirty="0"/>
          </a:p>
        </p:txBody>
      </p:sp>
      <p:sp>
        <p:nvSpPr>
          <p:cNvPr id="25" name="Text 23"/>
          <p:cNvSpPr txBox="1"/>
          <p:nvPr/>
        </p:nvSpPr>
        <p:spPr>
          <a:xfrm>
            <a:off x="6976872" y="4251960"/>
            <a:ext cx="4206240" cy="91440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Staff only react after a high bill or a failed device. There is no early signal at all.</a:t>
            </a:r>
            <a:endParaRPr lang="en-US" sz="1150" dirty="0"/>
          </a:p>
        </p:txBody>
      </p:sp>
      <p:sp>
        <p:nvSpPr>
          <p:cNvPr id="26" name="Text 24"/>
          <p:cNvSpPr txBox="1"/>
          <p:nvPr/>
        </p:nvSpPr>
        <p:spPr>
          <a:xfrm>
            <a:off x="594360" y="5989320"/>
            <a:ext cx="10698480" cy="365760"/>
          </a:xfrm>
          <a:prstGeom prst="rect">
            <a:avLst/>
          </a:prstGeom>
          <a:noFill/>
          <a:ln/>
        </p:spPr>
        <p:txBody>
          <a:bodyPr wrap="square" lIns="0" tIns="0" rIns="0" bIns="0" rtlCol="0" anchor="ctr"/>
          <a:lstStyle/>
          <a:p>
            <a:pPr marL="0" indent="0">
              <a:buNone/>
            </a:pPr>
            <a:r>
              <a:rPr lang="en-US" sz="1200" i="1" dirty="0">
                <a:solidFill>
                  <a:srgbClr val="1B6B7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Problem Statement</a:t>
            </a:r>
            <a:endParaRPr lang="en-US" sz="3400" dirty="0"/>
          </a:p>
        </p:txBody>
      </p:sp>
      <p:sp>
        <p:nvSpPr>
          <p:cNvPr id="3" name="Shape 1"/>
          <p:cNvSpPr/>
          <p:nvPr/>
        </p:nvSpPr>
        <p:spPr>
          <a:xfrm>
            <a:off x="11384280" y="384048"/>
            <a:ext cx="411480" cy="411480"/>
          </a:xfrm>
          <a:prstGeom prst="ellipse">
            <a:avLst/>
          </a:prstGeom>
          <a:solidFill>
            <a:srgbClr val="F0A202"/>
          </a:solidFill>
          <a:ln/>
        </p:spPr>
      </p:sp>
      <p:sp>
        <p:nvSpPr>
          <p:cNvPr id="4" name="Text 2"/>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 name="Shape 3"/>
          <p:cNvSpPr/>
          <p:nvPr/>
        </p:nvSpPr>
        <p:spPr>
          <a:xfrm>
            <a:off x="594360" y="1234440"/>
            <a:ext cx="10698480" cy="1691640"/>
          </a:xfrm>
          <a:prstGeom prst="roundRect">
            <a:avLst>
              <a:gd name="adj" fmla="val 3243"/>
            </a:avLst>
          </a:prstGeom>
          <a:solidFill>
            <a:srgbClr val="0E2A38"/>
          </a:solidFill>
          <a:ln/>
        </p:spPr>
      </p:sp>
      <p:sp>
        <p:nvSpPr>
          <p:cNvPr id="6" name="Text 4"/>
          <p:cNvSpPr txBox="1"/>
          <p:nvPr/>
        </p:nvSpPr>
        <p:spPr>
          <a:xfrm>
            <a:off x="1005840" y="1463040"/>
            <a:ext cx="9875520" cy="1234440"/>
          </a:xfrm>
          <a:prstGeom prst="rect">
            <a:avLst/>
          </a:prstGeom>
          <a:noFill/>
          <a:ln/>
        </p:spPr>
        <p:txBody>
          <a:bodyPr wrap="square" lIns="0" tIns="0" rIns="0" bIns="0" rtlCol="0" anchor="ctr"/>
          <a:lstStyle/>
          <a:p>
            <a:pPr marL="0" indent="0">
              <a:buNone/>
            </a:pPr>
            <a:r>
              <a:rPr lang="en-US" sz="2000" dirty="0">
                <a:solidFill>
                  <a:srgbClr val="FFFFFF"/>
                </a:solidFill>
                <a:latin typeface="Cambria" pitchFamily="34" charset="0"/>
                <a:ea typeface="Cambria" pitchFamily="34" charset="-122"/>
                <a:cs typeface="Cambria" pitchFamily="34" charset="-120"/>
              </a:rPr>
              <a:t>Electricity use is measured only after it is consumed, so unusual or wasteful usage is discovered when the monthly bill arrives. By that point the energy is already spent and no corrective action is possible.</a:t>
            </a:r>
            <a:endParaRPr lang="en-US" sz="2000" dirty="0"/>
          </a:p>
        </p:txBody>
      </p:sp>
      <p:sp>
        <p:nvSpPr>
          <p:cNvPr id="7" name="Shape 5"/>
          <p:cNvSpPr/>
          <p:nvPr/>
        </p:nvSpPr>
        <p:spPr>
          <a:xfrm>
            <a:off x="594360" y="3337560"/>
            <a:ext cx="3383280" cy="1828800"/>
          </a:xfrm>
          <a:prstGeom prst="roundRect">
            <a:avLst>
              <a:gd name="adj" fmla="val 4000"/>
            </a:avLst>
          </a:prstGeom>
          <a:solidFill>
            <a:srgbClr val="F3F6F7"/>
          </a:solidFill>
          <a:ln/>
        </p:spPr>
      </p:sp>
      <p:sp>
        <p:nvSpPr>
          <p:cNvPr id="8" name="Shape 6"/>
          <p:cNvSpPr/>
          <p:nvPr/>
        </p:nvSpPr>
        <p:spPr>
          <a:xfrm>
            <a:off x="868680" y="3611880"/>
            <a:ext cx="365760" cy="365760"/>
          </a:xfrm>
          <a:prstGeom prst="ellipse">
            <a:avLst/>
          </a:prstGeom>
          <a:solidFill>
            <a:srgbClr val="1B6B7A"/>
          </a:solidFill>
          <a:ln/>
        </p:spPr>
      </p:sp>
      <p:sp>
        <p:nvSpPr>
          <p:cNvPr id="9" name="Text 7"/>
          <p:cNvSpPr txBox="1"/>
          <p:nvPr/>
        </p:nvSpPr>
        <p:spPr>
          <a:xfrm>
            <a:off x="868680" y="36118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868680" y="4114800"/>
            <a:ext cx="2834640" cy="32004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No visibility</a:t>
            </a:r>
            <a:endParaRPr lang="en-US" sz="1500" dirty="0"/>
          </a:p>
        </p:txBody>
      </p:sp>
      <p:sp>
        <p:nvSpPr>
          <p:cNvPr id="11" name="Text 9"/>
          <p:cNvSpPr txBox="1"/>
          <p:nvPr/>
        </p:nvSpPr>
        <p:spPr>
          <a:xfrm>
            <a:off x="868680" y="4480560"/>
            <a:ext cx="2834640" cy="82296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Usage is known as one monthly total, not by area, day or hour.</a:t>
            </a:r>
            <a:endParaRPr lang="en-US" sz="1150" dirty="0"/>
          </a:p>
        </p:txBody>
      </p:sp>
      <p:sp>
        <p:nvSpPr>
          <p:cNvPr id="12" name="Shape 10"/>
          <p:cNvSpPr/>
          <p:nvPr/>
        </p:nvSpPr>
        <p:spPr>
          <a:xfrm>
            <a:off x="4251960" y="3337560"/>
            <a:ext cx="3383280" cy="1828800"/>
          </a:xfrm>
          <a:prstGeom prst="roundRect">
            <a:avLst>
              <a:gd name="adj" fmla="val 4000"/>
            </a:avLst>
          </a:prstGeom>
          <a:solidFill>
            <a:srgbClr val="F3F6F7"/>
          </a:solidFill>
          <a:ln/>
        </p:spPr>
      </p:sp>
      <p:sp>
        <p:nvSpPr>
          <p:cNvPr id="13" name="Shape 11"/>
          <p:cNvSpPr/>
          <p:nvPr/>
        </p:nvSpPr>
        <p:spPr>
          <a:xfrm>
            <a:off x="4526280" y="3611880"/>
            <a:ext cx="365760" cy="365760"/>
          </a:xfrm>
          <a:prstGeom prst="ellipse">
            <a:avLst/>
          </a:prstGeom>
          <a:solidFill>
            <a:srgbClr val="1B6B7A"/>
          </a:solidFill>
          <a:ln/>
        </p:spPr>
      </p:sp>
      <p:sp>
        <p:nvSpPr>
          <p:cNvPr id="14" name="Text 12"/>
          <p:cNvSpPr txBox="1"/>
          <p:nvPr/>
        </p:nvSpPr>
        <p:spPr>
          <a:xfrm>
            <a:off x="4526280" y="36118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4526280" y="4114800"/>
            <a:ext cx="2834640" cy="32004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No early warning</a:t>
            </a:r>
            <a:endParaRPr lang="en-US" sz="1500" dirty="0"/>
          </a:p>
        </p:txBody>
      </p:sp>
      <p:sp>
        <p:nvSpPr>
          <p:cNvPr id="16" name="Text 14"/>
          <p:cNvSpPr txBox="1"/>
          <p:nvPr/>
        </p:nvSpPr>
        <p:spPr>
          <a:xfrm>
            <a:off x="4526280" y="4480560"/>
            <a:ext cx="2834640" cy="82296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A faulty AC or a lab left running is noticed weeks later.</a:t>
            </a:r>
            <a:endParaRPr lang="en-US" sz="1150" dirty="0"/>
          </a:p>
        </p:txBody>
      </p:sp>
      <p:sp>
        <p:nvSpPr>
          <p:cNvPr id="17" name="Shape 15"/>
          <p:cNvSpPr/>
          <p:nvPr/>
        </p:nvSpPr>
        <p:spPr>
          <a:xfrm>
            <a:off x="7909560" y="3337560"/>
            <a:ext cx="3383280" cy="1828800"/>
          </a:xfrm>
          <a:prstGeom prst="roundRect">
            <a:avLst>
              <a:gd name="adj" fmla="val 4000"/>
            </a:avLst>
          </a:prstGeom>
          <a:solidFill>
            <a:srgbClr val="F3F6F7"/>
          </a:solidFill>
          <a:ln/>
        </p:spPr>
      </p:sp>
      <p:sp>
        <p:nvSpPr>
          <p:cNvPr id="18" name="Shape 16"/>
          <p:cNvSpPr/>
          <p:nvPr/>
        </p:nvSpPr>
        <p:spPr>
          <a:xfrm>
            <a:off x="8183880" y="3611880"/>
            <a:ext cx="365760" cy="365760"/>
          </a:xfrm>
          <a:prstGeom prst="ellipse">
            <a:avLst/>
          </a:prstGeom>
          <a:solidFill>
            <a:srgbClr val="1B6B7A"/>
          </a:solidFill>
          <a:ln/>
        </p:spPr>
      </p:sp>
      <p:sp>
        <p:nvSpPr>
          <p:cNvPr id="19" name="Text 17"/>
          <p:cNvSpPr txBox="1"/>
          <p:nvPr/>
        </p:nvSpPr>
        <p:spPr>
          <a:xfrm>
            <a:off x="8183880" y="36118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8183880" y="4114800"/>
            <a:ext cx="2834640" cy="320040"/>
          </a:xfrm>
          <a:prstGeom prst="rect">
            <a:avLst/>
          </a:prstGeom>
          <a:noFill/>
          <a:ln/>
        </p:spPr>
        <p:txBody>
          <a:bodyPr wrap="square" lIns="0" tIns="0" rIns="0" bIns="0" rtlCol="0" anchor="ctr"/>
          <a:lstStyle/>
          <a:p>
            <a:pPr marL="0" indent="0">
              <a:buNone/>
            </a:pPr>
            <a:r>
              <a:rPr lang="en-US" sz="1500" b="1" dirty="0">
                <a:solidFill>
                  <a:srgbClr val="0E2A38"/>
                </a:solidFill>
                <a:latin typeface="Calibri" pitchFamily="34" charset="0"/>
                <a:ea typeface="Calibri" pitchFamily="34" charset="-122"/>
                <a:cs typeface="Calibri" pitchFamily="34" charset="-120"/>
              </a:rPr>
              <a:t>No accountability</a:t>
            </a:r>
            <a:endParaRPr lang="en-US" sz="1500" dirty="0"/>
          </a:p>
        </p:txBody>
      </p:sp>
      <p:sp>
        <p:nvSpPr>
          <p:cNvPr id="21" name="Text 19"/>
          <p:cNvSpPr txBox="1"/>
          <p:nvPr/>
        </p:nvSpPr>
        <p:spPr>
          <a:xfrm>
            <a:off x="8183880" y="4480560"/>
            <a:ext cx="2834640" cy="822960"/>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Nobody owns the number, so nobody changes behaviour.</a:t>
            </a:r>
            <a:endParaRPr lang="en-US" sz="1150" dirty="0"/>
          </a:p>
        </p:txBody>
      </p:sp>
      <p:sp>
        <p:nvSpPr>
          <p:cNvPr id="22" name="Text 20"/>
          <p:cNvSpPr txBox="1"/>
          <p:nvPr/>
        </p:nvSpPr>
        <p:spPr>
          <a:xfrm>
            <a:off x="594360" y="5486400"/>
            <a:ext cx="10698480" cy="365760"/>
          </a:xfrm>
          <a:prstGeom prst="rect">
            <a:avLst/>
          </a:prstGeom>
          <a:noFill/>
          <a:ln/>
        </p:spPr>
        <p:txBody>
          <a:bodyPr wrap="square" lIns="0" tIns="0" rIns="0" bIns="0" rtlCol="0" anchor="ctr"/>
          <a:lstStyle/>
          <a:p>
            <a:pPr marL="0" indent="0">
              <a:buNone/>
            </a:pPr>
            <a:r>
              <a:rPr lang="en-US" sz="1300" b="1" i="1" dirty="0">
                <a:solidFill>
                  <a:srgbClr val="1B6B7A"/>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Objectives</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What this project sets out to build and how success will be judged</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 name="Shape 4"/>
          <p:cNvSpPr/>
          <p:nvPr/>
        </p:nvSpPr>
        <p:spPr>
          <a:xfrm>
            <a:off x="594360" y="1536192"/>
            <a:ext cx="10698480" cy="804672"/>
          </a:xfrm>
          <a:prstGeom prst="roundRect">
            <a:avLst>
              <a:gd name="adj" fmla="val 5682"/>
            </a:avLst>
          </a:prstGeom>
          <a:solidFill>
            <a:srgbClr val="F3F6F7"/>
          </a:solidFill>
          <a:ln/>
        </p:spPr>
      </p:sp>
      <p:sp>
        <p:nvSpPr>
          <p:cNvPr id="7" name="Shape 5"/>
          <p:cNvSpPr/>
          <p:nvPr/>
        </p:nvSpPr>
        <p:spPr>
          <a:xfrm>
            <a:off x="868680" y="1728216"/>
            <a:ext cx="420624" cy="420624"/>
          </a:xfrm>
          <a:prstGeom prst="ellipse">
            <a:avLst/>
          </a:prstGeom>
          <a:solidFill>
            <a:srgbClr val="1B6B7A"/>
          </a:solidFill>
          <a:ln/>
        </p:spPr>
      </p:sp>
      <p:sp>
        <p:nvSpPr>
          <p:cNvPr id="8" name="Text 6"/>
          <p:cNvSpPr txBox="1"/>
          <p:nvPr/>
        </p:nvSpPr>
        <p:spPr>
          <a:xfrm>
            <a:off x="868680" y="172821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481328" y="1536192"/>
            <a:ext cx="3017520" cy="804672"/>
          </a:xfrm>
          <a:prstGeom prst="rect">
            <a:avLst/>
          </a:prstGeom>
          <a:noFill/>
          <a:ln/>
        </p:spPr>
        <p:txBody>
          <a:bodyPr wrap="square" lIns="0" tIns="0" rIns="0" bIns="0" rtlCol="0" anchor="ctr"/>
          <a:lstStyle/>
          <a:p>
            <a:pPr marL="0" indent="0">
              <a:buNone/>
            </a:pPr>
            <a:r>
              <a:rPr lang="en-US" sz="1450" b="1" dirty="0">
                <a:solidFill>
                  <a:srgbClr val="0E2A38"/>
                </a:solidFill>
                <a:latin typeface="Calibri" pitchFamily="34" charset="0"/>
                <a:ea typeface="Calibri" pitchFamily="34" charset="-122"/>
                <a:cs typeface="Calibri" pitchFamily="34" charset="-120"/>
              </a:rPr>
              <a:t>Collect and clean the data</a:t>
            </a:r>
            <a:endParaRPr lang="en-US" sz="1450" dirty="0"/>
          </a:p>
        </p:txBody>
      </p:sp>
      <p:sp>
        <p:nvSpPr>
          <p:cNvPr id="10" name="Text 8"/>
          <p:cNvSpPr txBox="1"/>
          <p:nvPr/>
        </p:nvSpPr>
        <p:spPr>
          <a:xfrm>
            <a:off x="4617720" y="1536192"/>
            <a:ext cx="6492240" cy="804672"/>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Pull past meter readings along with timetable, weather and occupancy details, and fix gaps and wrong entries.</a:t>
            </a:r>
            <a:endParaRPr lang="en-US" sz="1200" dirty="0"/>
          </a:p>
        </p:txBody>
      </p:sp>
      <p:sp>
        <p:nvSpPr>
          <p:cNvPr id="11" name="Shape 9"/>
          <p:cNvSpPr/>
          <p:nvPr/>
        </p:nvSpPr>
        <p:spPr>
          <a:xfrm>
            <a:off x="594360" y="2468880"/>
            <a:ext cx="10698480" cy="804672"/>
          </a:xfrm>
          <a:prstGeom prst="roundRect">
            <a:avLst>
              <a:gd name="adj" fmla="val 5682"/>
            </a:avLst>
          </a:prstGeom>
          <a:solidFill>
            <a:srgbClr val="F3F6F7"/>
          </a:solidFill>
          <a:ln/>
        </p:spPr>
      </p:sp>
      <p:sp>
        <p:nvSpPr>
          <p:cNvPr id="12" name="Shape 10"/>
          <p:cNvSpPr/>
          <p:nvPr/>
        </p:nvSpPr>
        <p:spPr>
          <a:xfrm>
            <a:off x="868680" y="2660904"/>
            <a:ext cx="420624" cy="420624"/>
          </a:xfrm>
          <a:prstGeom prst="ellipse">
            <a:avLst/>
          </a:prstGeom>
          <a:solidFill>
            <a:srgbClr val="1B6B7A"/>
          </a:solidFill>
          <a:ln/>
        </p:spPr>
      </p:sp>
      <p:sp>
        <p:nvSpPr>
          <p:cNvPr id="13" name="Text 11"/>
          <p:cNvSpPr txBox="1"/>
          <p:nvPr/>
        </p:nvSpPr>
        <p:spPr>
          <a:xfrm>
            <a:off x="868680" y="26609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481328" y="2468880"/>
            <a:ext cx="3017520" cy="804672"/>
          </a:xfrm>
          <a:prstGeom prst="rect">
            <a:avLst/>
          </a:prstGeom>
          <a:noFill/>
          <a:ln/>
        </p:spPr>
        <p:txBody>
          <a:bodyPr wrap="square" lIns="0" tIns="0" rIns="0" bIns="0" rtlCol="0" anchor="ctr"/>
          <a:lstStyle/>
          <a:p>
            <a:pPr marL="0" indent="0">
              <a:buNone/>
            </a:pPr>
            <a:r>
              <a:rPr lang="en-US" sz="1450" b="1" dirty="0">
                <a:solidFill>
                  <a:srgbClr val="0E2A38"/>
                </a:solidFill>
                <a:latin typeface="Calibri" pitchFamily="34" charset="0"/>
                <a:ea typeface="Calibri" pitchFamily="34" charset="-122"/>
                <a:cs typeface="Calibri" pitchFamily="34" charset="-120"/>
              </a:rPr>
              <a:t>Build the prediction model</a:t>
            </a:r>
            <a:endParaRPr lang="en-US" sz="1450" dirty="0"/>
          </a:p>
        </p:txBody>
      </p:sp>
      <p:sp>
        <p:nvSpPr>
          <p:cNvPr id="15" name="Text 13"/>
          <p:cNvSpPr txBox="1"/>
          <p:nvPr/>
        </p:nvSpPr>
        <p:spPr>
          <a:xfrm>
            <a:off x="4617720" y="2468880"/>
            <a:ext cx="6492240" cy="804672"/>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Train a model that forecasts electricity use for the next 24 hours and the next 7 days.</a:t>
            </a:r>
            <a:endParaRPr lang="en-US" sz="1200" dirty="0"/>
          </a:p>
        </p:txBody>
      </p:sp>
      <p:sp>
        <p:nvSpPr>
          <p:cNvPr id="16" name="Shape 14"/>
          <p:cNvSpPr/>
          <p:nvPr/>
        </p:nvSpPr>
        <p:spPr>
          <a:xfrm>
            <a:off x="594360" y="3401568"/>
            <a:ext cx="10698480" cy="804672"/>
          </a:xfrm>
          <a:prstGeom prst="roundRect">
            <a:avLst>
              <a:gd name="adj" fmla="val 5682"/>
            </a:avLst>
          </a:prstGeom>
          <a:solidFill>
            <a:srgbClr val="F3F6F7"/>
          </a:solidFill>
          <a:ln/>
        </p:spPr>
      </p:sp>
      <p:sp>
        <p:nvSpPr>
          <p:cNvPr id="17" name="Shape 15"/>
          <p:cNvSpPr/>
          <p:nvPr/>
        </p:nvSpPr>
        <p:spPr>
          <a:xfrm>
            <a:off x="868680" y="3593592"/>
            <a:ext cx="420624" cy="420624"/>
          </a:xfrm>
          <a:prstGeom prst="ellipse">
            <a:avLst/>
          </a:prstGeom>
          <a:solidFill>
            <a:srgbClr val="1B6B7A"/>
          </a:solidFill>
          <a:ln/>
        </p:spPr>
      </p:sp>
      <p:sp>
        <p:nvSpPr>
          <p:cNvPr id="18" name="Text 16"/>
          <p:cNvSpPr txBox="1"/>
          <p:nvPr/>
        </p:nvSpPr>
        <p:spPr>
          <a:xfrm>
            <a:off x="868680" y="3593592"/>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481328" y="3401568"/>
            <a:ext cx="3017520" cy="804672"/>
          </a:xfrm>
          <a:prstGeom prst="rect">
            <a:avLst/>
          </a:prstGeom>
          <a:noFill/>
          <a:ln/>
        </p:spPr>
        <p:txBody>
          <a:bodyPr wrap="square" lIns="0" tIns="0" rIns="0" bIns="0" rtlCol="0" anchor="ctr"/>
          <a:lstStyle/>
          <a:p>
            <a:pPr marL="0" indent="0">
              <a:buNone/>
            </a:pPr>
            <a:r>
              <a:rPr lang="en-US" sz="1450" b="1" dirty="0">
                <a:solidFill>
                  <a:srgbClr val="0E2A38"/>
                </a:solidFill>
                <a:latin typeface="Calibri" pitchFamily="34" charset="0"/>
                <a:ea typeface="Calibri" pitchFamily="34" charset="-122"/>
                <a:cs typeface="Calibri" pitchFamily="34" charset="-120"/>
              </a:rPr>
              <a:t>Flag abnormal usage</a:t>
            </a:r>
            <a:endParaRPr lang="en-US" sz="1450" dirty="0"/>
          </a:p>
        </p:txBody>
      </p:sp>
      <p:sp>
        <p:nvSpPr>
          <p:cNvPr id="20" name="Text 18"/>
          <p:cNvSpPr txBox="1"/>
          <p:nvPr/>
        </p:nvSpPr>
        <p:spPr>
          <a:xfrm>
            <a:off x="4617720" y="3401568"/>
            <a:ext cx="6492240" cy="804672"/>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Compare actual readings against the forecast and raise a flag when the difference is too large.</a:t>
            </a:r>
            <a:endParaRPr lang="en-US" sz="1200" dirty="0"/>
          </a:p>
        </p:txBody>
      </p:sp>
      <p:sp>
        <p:nvSpPr>
          <p:cNvPr id="21" name="Shape 19"/>
          <p:cNvSpPr/>
          <p:nvPr/>
        </p:nvSpPr>
        <p:spPr>
          <a:xfrm>
            <a:off x="594360" y="4334256"/>
            <a:ext cx="10698480" cy="804672"/>
          </a:xfrm>
          <a:prstGeom prst="roundRect">
            <a:avLst>
              <a:gd name="adj" fmla="val 5682"/>
            </a:avLst>
          </a:prstGeom>
          <a:solidFill>
            <a:srgbClr val="F3F6F7"/>
          </a:solidFill>
          <a:ln/>
        </p:spPr>
      </p:sp>
      <p:sp>
        <p:nvSpPr>
          <p:cNvPr id="22" name="Shape 20"/>
          <p:cNvSpPr/>
          <p:nvPr/>
        </p:nvSpPr>
        <p:spPr>
          <a:xfrm>
            <a:off x="868680" y="4526280"/>
            <a:ext cx="420624" cy="420624"/>
          </a:xfrm>
          <a:prstGeom prst="ellipse">
            <a:avLst/>
          </a:prstGeom>
          <a:solidFill>
            <a:srgbClr val="1B6B7A"/>
          </a:solidFill>
          <a:ln/>
        </p:spPr>
      </p:sp>
      <p:sp>
        <p:nvSpPr>
          <p:cNvPr id="23" name="Text 21"/>
          <p:cNvSpPr txBox="1"/>
          <p:nvPr/>
        </p:nvSpPr>
        <p:spPr>
          <a:xfrm>
            <a:off x="868680" y="452628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1481328" y="4334256"/>
            <a:ext cx="3017520" cy="804672"/>
          </a:xfrm>
          <a:prstGeom prst="rect">
            <a:avLst/>
          </a:prstGeom>
          <a:noFill/>
          <a:ln/>
        </p:spPr>
        <p:txBody>
          <a:bodyPr wrap="square" lIns="0" tIns="0" rIns="0" bIns="0" rtlCol="0" anchor="ctr"/>
          <a:lstStyle/>
          <a:p>
            <a:pPr marL="0" indent="0">
              <a:buNone/>
            </a:pPr>
            <a:r>
              <a:rPr lang="en-US" sz="1450" b="1" dirty="0">
                <a:solidFill>
                  <a:srgbClr val="0E2A38"/>
                </a:solidFill>
                <a:latin typeface="Calibri" pitchFamily="34" charset="0"/>
                <a:ea typeface="Calibri" pitchFamily="34" charset="-122"/>
                <a:cs typeface="Calibri" pitchFamily="34" charset="-120"/>
              </a:rPr>
              <a:t>Show it simply</a:t>
            </a:r>
            <a:endParaRPr lang="en-US" sz="1450" dirty="0"/>
          </a:p>
        </p:txBody>
      </p:sp>
      <p:sp>
        <p:nvSpPr>
          <p:cNvPr id="25" name="Text 23"/>
          <p:cNvSpPr txBox="1"/>
          <p:nvPr/>
        </p:nvSpPr>
        <p:spPr>
          <a:xfrm>
            <a:off x="4617720" y="4334256"/>
            <a:ext cx="6492240" cy="804672"/>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A dashboard that a staff member can read in ten seconds, with alerts by email or message.</a:t>
            </a:r>
            <a:endParaRPr lang="en-US" sz="1200" dirty="0"/>
          </a:p>
        </p:txBody>
      </p:sp>
      <p:sp>
        <p:nvSpPr>
          <p:cNvPr id="26" name="Shape 24"/>
          <p:cNvSpPr/>
          <p:nvPr/>
        </p:nvSpPr>
        <p:spPr>
          <a:xfrm>
            <a:off x="594360" y="5266944"/>
            <a:ext cx="10698480" cy="804672"/>
          </a:xfrm>
          <a:prstGeom prst="roundRect">
            <a:avLst>
              <a:gd name="adj" fmla="val 5682"/>
            </a:avLst>
          </a:prstGeom>
          <a:solidFill>
            <a:srgbClr val="0E2A38"/>
          </a:solidFill>
          <a:ln/>
        </p:spPr>
      </p:sp>
      <p:sp>
        <p:nvSpPr>
          <p:cNvPr id="27" name="Shape 25"/>
          <p:cNvSpPr/>
          <p:nvPr/>
        </p:nvSpPr>
        <p:spPr>
          <a:xfrm>
            <a:off x="868680" y="5458968"/>
            <a:ext cx="420624" cy="420624"/>
          </a:xfrm>
          <a:prstGeom prst="ellipse">
            <a:avLst/>
          </a:prstGeom>
          <a:solidFill>
            <a:srgbClr val="F0A202"/>
          </a:solidFill>
          <a:ln/>
        </p:spPr>
      </p:sp>
      <p:sp>
        <p:nvSpPr>
          <p:cNvPr id="28" name="Text 26"/>
          <p:cNvSpPr txBox="1"/>
          <p:nvPr/>
        </p:nvSpPr>
        <p:spPr>
          <a:xfrm>
            <a:off x="868680" y="5458968"/>
            <a:ext cx="420624" cy="420624"/>
          </a:xfrm>
          <a:prstGeom prst="rect">
            <a:avLst/>
          </a:prstGeom>
          <a:noFill/>
          <a:ln/>
        </p:spPr>
        <p:txBody>
          <a:bodyPr wrap="square" lIns="0" tIns="0" rIns="0" bIns="0" rtlCol="0" anchor="ctr"/>
          <a:lstStyle/>
          <a:p>
            <a:pPr marL="0" indent="0" algn="ctr">
              <a:buNone/>
            </a:pPr>
            <a:r>
              <a:rPr lang="en-US" sz="1200" b="1" dirty="0">
                <a:solidFill>
                  <a:srgbClr val="0E2A38"/>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1481328" y="5266944"/>
            <a:ext cx="3017520" cy="8046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Measure honestly</a:t>
            </a:r>
            <a:endParaRPr lang="en-US" sz="1450" dirty="0"/>
          </a:p>
        </p:txBody>
      </p:sp>
      <p:sp>
        <p:nvSpPr>
          <p:cNvPr id="30" name="Text 28"/>
          <p:cNvSpPr txBox="1"/>
          <p:nvPr/>
        </p:nvSpPr>
        <p:spPr>
          <a:xfrm>
            <a:off x="4617720" y="5266944"/>
            <a:ext cx="6492240" cy="804672"/>
          </a:xfrm>
          <a:prstGeom prst="rect">
            <a:avLst/>
          </a:prstGeom>
          <a:noFill/>
          <a:ln/>
        </p:spPr>
        <p:txBody>
          <a:bodyPr wrap="square" lIns="0" tIns="0" rIns="0" bIns="0" rtlCol="0" anchor="ctr"/>
          <a:lstStyle/>
          <a:p>
            <a:pPr marL="0" indent="0">
              <a:buNone/>
            </a:pPr>
            <a:r>
              <a:rPr lang="en-US" sz="1200" dirty="0">
                <a:solidFill>
                  <a:srgbClr val="D6E2E6"/>
                </a:solidFill>
                <a:latin typeface="Calibri" pitchFamily="34" charset="0"/>
                <a:ea typeface="Calibri" pitchFamily="34" charset="-122"/>
                <a:cs typeface="Calibri" pitchFamily="34" charset="-120"/>
              </a:rPr>
              <a:t>Target average error below 10 percent (MAPE) on unseen data, and report the real number even if it is worse.</a:t>
            </a:r>
            <a:endParaRPr lang="en-US" sz="1200" dirty="0"/>
          </a:p>
        </p:txBody>
      </p:sp>
      <p:sp>
        <p:nvSpPr>
          <p:cNvPr id="31" name="Text 29"/>
          <p:cNvSpPr txBox="1"/>
          <p:nvPr/>
        </p:nvSpPr>
        <p:spPr>
          <a:xfrm>
            <a:off x="594360" y="6355080"/>
            <a:ext cx="10698480" cy="320040"/>
          </a:xfrm>
          <a:prstGeom prst="rect">
            <a:avLst/>
          </a:prstGeom>
          <a:noFill/>
          <a:ln/>
        </p:spPr>
        <p:txBody>
          <a:bodyPr wrap="square" lIns="0" tIns="0" rIns="0" bIns="0" rtlCol="0" anchor="ctr"/>
          <a:lstStyle/>
          <a:p>
            <a:pPr marL="0" indent="0">
              <a:buNone/>
            </a:pPr>
            <a:r>
              <a:rPr lang="en-US" sz="1150" i="1" dirty="0">
                <a:solidFill>
                  <a:srgbClr val="1B6B7A"/>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Five Whys: Getting to the Real Cause</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Starting problem: electricity bills are high and impossible to predict</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 name="Shape 4"/>
          <p:cNvSpPr/>
          <p:nvPr/>
        </p:nvSpPr>
        <p:spPr>
          <a:xfrm>
            <a:off x="594360" y="1554480"/>
            <a:ext cx="10698480" cy="658368"/>
          </a:xfrm>
          <a:prstGeom prst="roundRect">
            <a:avLst>
              <a:gd name="adj" fmla="val 6944"/>
            </a:avLst>
          </a:prstGeom>
          <a:solidFill>
            <a:srgbClr val="F3F6F7"/>
          </a:solidFill>
          <a:ln w="12700">
            <a:solidFill>
              <a:srgbClr val="DDE5E8"/>
            </a:solidFill>
            <a:prstDash val="solid"/>
          </a:ln>
        </p:spPr>
      </p:sp>
      <p:sp>
        <p:nvSpPr>
          <p:cNvPr id="7" name="Text 5"/>
          <p:cNvSpPr txBox="1"/>
          <p:nvPr/>
        </p:nvSpPr>
        <p:spPr>
          <a:xfrm>
            <a:off x="777240" y="1600200"/>
            <a:ext cx="822960" cy="54864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Why 1</a:t>
            </a:r>
            <a:endParaRPr lang="en-US" sz="1100" dirty="0"/>
          </a:p>
        </p:txBody>
      </p:sp>
      <p:sp>
        <p:nvSpPr>
          <p:cNvPr id="8" name="Text 6"/>
          <p:cNvSpPr txBox="1"/>
          <p:nvPr/>
        </p:nvSpPr>
        <p:spPr>
          <a:xfrm>
            <a:off x="1691640" y="1600200"/>
            <a:ext cx="4114800" cy="548640"/>
          </a:xfrm>
          <a:prstGeom prst="rect">
            <a:avLst/>
          </a:prstGeom>
          <a:noFill/>
          <a:ln/>
        </p:spPr>
        <p:txBody>
          <a:bodyPr wrap="square" lIns="0" tIns="0" rIns="0" bIns="0" rtlCol="0" anchor="ctr"/>
          <a:lstStyle/>
          <a:p>
            <a:pPr marL="0" indent="0">
              <a:buNone/>
            </a:pPr>
            <a:r>
              <a:rPr lang="en-US" sz="1250" b="1" dirty="0">
                <a:solidFill>
                  <a:srgbClr val="0E2A38"/>
                </a:solidFill>
                <a:latin typeface="Calibri" pitchFamily="34" charset="0"/>
                <a:ea typeface="Calibri" pitchFamily="34" charset="-122"/>
                <a:cs typeface="Calibri" pitchFamily="34" charset="-120"/>
              </a:rPr>
              <a:t>Why are the bills high and unpredictable?</a:t>
            </a:r>
            <a:endParaRPr lang="en-US" sz="1250" dirty="0"/>
          </a:p>
        </p:txBody>
      </p:sp>
      <p:sp>
        <p:nvSpPr>
          <p:cNvPr id="9" name="Text 7"/>
          <p:cNvSpPr txBox="1"/>
          <p:nvPr/>
        </p:nvSpPr>
        <p:spPr>
          <a:xfrm>
            <a:off x="5943600" y="1600200"/>
            <a:ext cx="5120640" cy="548640"/>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Because usage spikes are never noticed while they are happening.</a:t>
            </a:r>
            <a:endParaRPr lang="en-US" sz="1200" dirty="0"/>
          </a:p>
        </p:txBody>
      </p:sp>
      <p:sp>
        <p:nvSpPr>
          <p:cNvPr id="10" name="Shape 8"/>
          <p:cNvSpPr/>
          <p:nvPr/>
        </p:nvSpPr>
        <p:spPr>
          <a:xfrm>
            <a:off x="594360" y="2331720"/>
            <a:ext cx="10698480" cy="658368"/>
          </a:xfrm>
          <a:prstGeom prst="roundRect">
            <a:avLst>
              <a:gd name="adj" fmla="val 6944"/>
            </a:avLst>
          </a:prstGeom>
          <a:solidFill>
            <a:srgbClr val="FFFFFF"/>
          </a:solidFill>
          <a:ln w="12700">
            <a:solidFill>
              <a:srgbClr val="DDE5E8"/>
            </a:solidFill>
            <a:prstDash val="solid"/>
          </a:ln>
        </p:spPr>
      </p:sp>
      <p:sp>
        <p:nvSpPr>
          <p:cNvPr id="11" name="Text 9"/>
          <p:cNvSpPr txBox="1"/>
          <p:nvPr/>
        </p:nvSpPr>
        <p:spPr>
          <a:xfrm>
            <a:off x="777240" y="2377440"/>
            <a:ext cx="822960" cy="54864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Why 2</a:t>
            </a:r>
            <a:endParaRPr lang="en-US" sz="1100" dirty="0"/>
          </a:p>
        </p:txBody>
      </p:sp>
      <p:sp>
        <p:nvSpPr>
          <p:cNvPr id="12" name="Text 10"/>
          <p:cNvSpPr txBox="1"/>
          <p:nvPr/>
        </p:nvSpPr>
        <p:spPr>
          <a:xfrm>
            <a:off x="1691640" y="2377440"/>
            <a:ext cx="4114800" cy="548640"/>
          </a:xfrm>
          <a:prstGeom prst="rect">
            <a:avLst/>
          </a:prstGeom>
          <a:noFill/>
          <a:ln/>
        </p:spPr>
        <p:txBody>
          <a:bodyPr wrap="square" lIns="0" tIns="0" rIns="0" bIns="0" rtlCol="0" anchor="ctr"/>
          <a:lstStyle/>
          <a:p>
            <a:pPr marL="0" indent="0">
              <a:buNone/>
            </a:pPr>
            <a:r>
              <a:rPr lang="en-US" sz="1250" b="1" dirty="0">
                <a:solidFill>
                  <a:srgbClr val="0E2A38"/>
                </a:solidFill>
                <a:latin typeface="Calibri" pitchFamily="34" charset="0"/>
                <a:ea typeface="Calibri" pitchFamily="34" charset="-122"/>
                <a:cs typeface="Calibri" pitchFamily="34" charset="-120"/>
              </a:rPr>
              <a:t>Why are the spikes not noticed?</a:t>
            </a:r>
            <a:endParaRPr lang="en-US" sz="1250" dirty="0"/>
          </a:p>
        </p:txBody>
      </p:sp>
      <p:sp>
        <p:nvSpPr>
          <p:cNvPr id="13" name="Text 11"/>
          <p:cNvSpPr txBox="1"/>
          <p:nvPr/>
        </p:nvSpPr>
        <p:spPr>
          <a:xfrm>
            <a:off x="5943600" y="2377440"/>
            <a:ext cx="5120640" cy="548640"/>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Because nothing is monitored between two billing cycles.</a:t>
            </a:r>
            <a:endParaRPr lang="en-US" sz="1200" dirty="0"/>
          </a:p>
        </p:txBody>
      </p:sp>
      <p:sp>
        <p:nvSpPr>
          <p:cNvPr id="14" name="Shape 12"/>
          <p:cNvSpPr/>
          <p:nvPr/>
        </p:nvSpPr>
        <p:spPr>
          <a:xfrm>
            <a:off x="594360" y="3108960"/>
            <a:ext cx="10698480" cy="658368"/>
          </a:xfrm>
          <a:prstGeom prst="roundRect">
            <a:avLst>
              <a:gd name="adj" fmla="val 6944"/>
            </a:avLst>
          </a:prstGeom>
          <a:solidFill>
            <a:srgbClr val="F3F6F7"/>
          </a:solidFill>
          <a:ln w="12700">
            <a:solidFill>
              <a:srgbClr val="DDE5E8"/>
            </a:solidFill>
            <a:prstDash val="solid"/>
          </a:ln>
        </p:spPr>
      </p:sp>
      <p:sp>
        <p:nvSpPr>
          <p:cNvPr id="15" name="Text 13"/>
          <p:cNvSpPr txBox="1"/>
          <p:nvPr/>
        </p:nvSpPr>
        <p:spPr>
          <a:xfrm>
            <a:off x="777240" y="3154680"/>
            <a:ext cx="822960" cy="54864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Why 3</a:t>
            </a:r>
            <a:endParaRPr lang="en-US" sz="1100" dirty="0"/>
          </a:p>
        </p:txBody>
      </p:sp>
      <p:sp>
        <p:nvSpPr>
          <p:cNvPr id="16" name="Text 14"/>
          <p:cNvSpPr txBox="1"/>
          <p:nvPr/>
        </p:nvSpPr>
        <p:spPr>
          <a:xfrm>
            <a:off x="1691640" y="3154680"/>
            <a:ext cx="4114800" cy="548640"/>
          </a:xfrm>
          <a:prstGeom prst="rect">
            <a:avLst/>
          </a:prstGeom>
          <a:noFill/>
          <a:ln/>
        </p:spPr>
        <p:txBody>
          <a:bodyPr wrap="square" lIns="0" tIns="0" rIns="0" bIns="0" rtlCol="0" anchor="ctr"/>
          <a:lstStyle/>
          <a:p>
            <a:pPr marL="0" indent="0">
              <a:buNone/>
            </a:pPr>
            <a:r>
              <a:rPr lang="en-US" sz="1250" b="1" dirty="0">
                <a:solidFill>
                  <a:srgbClr val="0E2A38"/>
                </a:solidFill>
                <a:latin typeface="Calibri" pitchFamily="34" charset="0"/>
                <a:ea typeface="Calibri" pitchFamily="34" charset="-122"/>
                <a:cs typeface="Calibri" pitchFamily="34" charset="-120"/>
              </a:rPr>
              <a:t>Why is nothing monitored in between?</a:t>
            </a:r>
            <a:endParaRPr lang="en-US" sz="1250" dirty="0"/>
          </a:p>
        </p:txBody>
      </p:sp>
      <p:sp>
        <p:nvSpPr>
          <p:cNvPr id="17" name="Text 15"/>
          <p:cNvSpPr txBox="1"/>
          <p:nvPr/>
        </p:nvSpPr>
        <p:spPr>
          <a:xfrm>
            <a:off x="5943600" y="3154680"/>
            <a:ext cx="5120640" cy="548640"/>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Because the meter records one running total, not usage per area or per hour.</a:t>
            </a:r>
            <a:endParaRPr lang="en-US" sz="1200" dirty="0"/>
          </a:p>
        </p:txBody>
      </p:sp>
      <p:sp>
        <p:nvSpPr>
          <p:cNvPr id="18" name="Shape 16"/>
          <p:cNvSpPr/>
          <p:nvPr/>
        </p:nvSpPr>
        <p:spPr>
          <a:xfrm>
            <a:off x="594360" y="3886200"/>
            <a:ext cx="10698480" cy="658368"/>
          </a:xfrm>
          <a:prstGeom prst="roundRect">
            <a:avLst>
              <a:gd name="adj" fmla="val 6944"/>
            </a:avLst>
          </a:prstGeom>
          <a:solidFill>
            <a:srgbClr val="FFFFFF"/>
          </a:solidFill>
          <a:ln w="12700">
            <a:solidFill>
              <a:srgbClr val="DDE5E8"/>
            </a:solidFill>
            <a:prstDash val="solid"/>
          </a:ln>
        </p:spPr>
      </p:sp>
      <p:sp>
        <p:nvSpPr>
          <p:cNvPr id="19" name="Text 17"/>
          <p:cNvSpPr txBox="1"/>
          <p:nvPr/>
        </p:nvSpPr>
        <p:spPr>
          <a:xfrm>
            <a:off x="777240" y="3931920"/>
            <a:ext cx="822960" cy="54864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Why 4</a:t>
            </a:r>
            <a:endParaRPr lang="en-US" sz="1100" dirty="0"/>
          </a:p>
        </p:txBody>
      </p:sp>
      <p:sp>
        <p:nvSpPr>
          <p:cNvPr id="20" name="Text 18"/>
          <p:cNvSpPr txBox="1"/>
          <p:nvPr/>
        </p:nvSpPr>
        <p:spPr>
          <a:xfrm>
            <a:off x="1691640" y="3931920"/>
            <a:ext cx="4114800" cy="548640"/>
          </a:xfrm>
          <a:prstGeom prst="rect">
            <a:avLst/>
          </a:prstGeom>
          <a:noFill/>
          <a:ln/>
        </p:spPr>
        <p:txBody>
          <a:bodyPr wrap="square" lIns="0" tIns="0" rIns="0" bIns="0" rtlCol="0" anchor="ctr"/>
          <a:lstStyle/>
          <a:p>
            <a:pPr marL="0" indent="0">
              <a:buNone/>
            </a:pPr>
            <a:r>
              <a:rPr lang="en-US" sz="1250" b="1" dirty="0">
                <a:solidFill>
                  <a:srgbClr val="0E2A38"/>
                </a:solidFill>
                <a:latin typeface="Calibri" pitchFamily="34" charset="0"/>
                <a:ea typeface="Calibri" pitchFamily="34" charset="-122"/>
                <a:cs typeface="Calibri" pitchFamily="34" charset="-120"/>
              </a:rPr>
              <a:t>Why is only the total recorded?</a:t>
            </a:r>
            <a:endParaRPr lang="en-US" sz="1250" dirty="0"/>
          </a:p>
        </p:txBody>
      </p:sp>
      <p:sp>
        <p:nvSpPr>
          <p:cNvPr id="21" name="Text 19"/>
          <p:cNvSpPr txBox="1"/>
          <p:nvPr/>
        </p:nvSpPr>
        <p:spPr>
          <a:xfrm>
            <a:off x="5943600" y="3931920"/>
            <a:ext cx="5120640" cy="548640"/>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Because the readings that do exist are stored for billing and never analysed.</a:t>
            </a:r>
            <a:endParaRPr lang="en-US" sz="1200" dirty="0"/>
          </a:p>
        </p:txBody>
      </p:sp>
      <p:sp>
        <p:nvSpPr>
          <p:cNvPr id="22" name="Shape 20"/>
          <p:cNvSpPr/>
          <p:nvPr/>
        </p:nvSpPr>
        <p:spPr>
          <a:xfrm>
            <a:off x="594360" y="4663440"/>
            <a:ext cx="10698480" cy="658368"/>
          </a:xfrm>
          <a:prstGeom prst="roundRect">
            <a:avLst>
              <a:gd name="adj" fmla="val 6944"/>
            </a:avLst>
          </a:prstGeom>
          <a:solidFill>
            <a:srgbClr val="F3F6F7"/>
          </a:solidFill>
          <a:ln w="12700">
            <a:solidFill>
              <a:srgbClr val="DDE5E8"/>
            </a:solidFill>
            <a:prstDash val="solid"/>
          </a:ln>
        </p:spPr>
      </p:sp>
      <p:sp>
        <p:nvSpPr>
          <p:cNvPr id="23" name="Text 21"/>
          <p:cNvSpPr txBox="1"/>
          <p:nvPr/>
        </p:nvSpPr>
        <p:spPr>
          <a:xfrm>
            <a:off x="777240" y="4709160"/>
            <a:ext cx="822960" cy="54864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Why 5</a:t>
            </a:r>
            <a:endParaRPr lang="en-US" sz="1100" dirty="0"/>
          </a:p>
        </p:txBody>
      </p:sp>
      <p:sp>
        <p:nvSpPr>
          <p:cNvPr id="24" name="Text 22"/>
          <p:cNvSpPr txBox="1"/>
          <p:nvPr/>
        </p:nvSpPr>
        <p:spPr>
          <a:xfrm>
            <a:off x="1691640" y="4709160"/>
            <a:ext cx="4114800" cy="548640"/>
          </a:xfrm>
          <a:prstGeom prst="rect">
            <a:avLst/>
          </a:prstGeom>
          <a:noFill/>
          <a:ln/>
        </p:spPr>
        <p:txBody>
          <a:bodyPr wrap="square" lIns="0" tIns="0" rIns="0" bIns="0" rtlCol="0" anchor="ctr"/>
          <a:lstStyle/>
          <a:p>
            <a:pPr marL="0" indent="0">
              <a:buNone/>
            </a:pPr>
            <a:r>
              <a:rPr lang="en-US" sz="1250" b="1" dirty="0">
                <a:solidFill>
                  <a:srgbClr val="0E2A38"/>
                </a:solidFill>
                <a:latin typeface="Calibri" pitchFamily="34" charset="0"/>
                <a:ea typeface="Calibri" pitchFamily="34" charset="-122"/>
                <a:cs typeface="Calibri" pitchFamily="34" charset="-120"/>
              </a:rPr>
              <a:t>Why is the data never analysed?</a:t>
            </a:r>
            <a:endParaRPr lang="en-US" sz="1250" dirty="0"/>
          </a:p>
        </p:txBody>
      </p:sp>
      <p:sp>
        <p:nvSpPr>
          <p:cNvPr id="25" name="Text 23"/>
          <p:cNvSpPr txBox="1"/>
          <p:nvPr/>
        </p:nvSpPr>
        <p:spPr>
          <a:xfrm>
            <a:off x="5943600" y="4709160"/>
            <a:ext cx="5120640" cy="548640"/>
          </a:xfrm>
          <a:prstGeom prst="rect">
            <a:avLst/>
          </a:prstGeom>
          <a:noFill/>
          <a:ln/>
        </p:spPr>
        <p:txBody>
          <a:bodyPr wrap="square" lIns="0" tIns="0" rIns="0" bIns="0" rtlCol="0" anchor="ctr"/>
          <a:lstStyle/>
          <a:p>
            <a:pPr marL="0" indent="0">
              <a:buNone/>
            </a:pPr>
            <a:r>
              <a:rPr lang="en-US" sz="1200" dirty="0">
                <a:solidFill>
                  <a:srgbClr val="5A6B73"/>
                </a:solidFill>
                <a:latin typeface="Calibri" pitchFamily="34" charset="0"/>
                <a:ea typeface="Calibri" pitchFamily="34" charset="-122"/>
                <a:cs typeface="Calibri" pitchFamily="34" charset="-120"/>
              </a:rPr>
              <a:t>Because there is no system that turns readings into a forecast someone can act on.</a:t>
            </a:r>
            <a:endParaRPr lang="en-US" sz="1200" dirty="0"/>
          </a:p>
        </p:txBody>
      </p:sp>
      <p:sp>
        <p:nvSpPr>
          <p:cNvPr id="26" name="Shape 24"/>
          <p:cNvSpPr/>
          <p:nvPr/>
        </p:nvSpPr>
        <p:spPr>
          <a:xfrm>
            <a:off x="594360" y="5577840"/>
            <a:ext cx="10698480" cy="777240"/>
          </a:xfrm>
          <a:prstGeom prst="roundRect">
            <a:avLst>
              <a:gd name="adj" fmla="val 7059"/>
            </a:avLst>
          </a:prstGeom>
          <a:solidFill>
            <a:srgbClr val="0E2A38"/>
          </a:solidFill>
          <a:ln/>
        </p:spPr>
      </p:sp>
      <p:sp>
        <p:nvSpPr>
          <p:cNvPr id="27" name="Text 25"/>
          <p:cNvSpPr txBox="1"/>
          <p:nvPr/>
        </p:nvSpPr>
        <p:spPr>
          <a:xfrm>
            <a:off x="914400" y="5577840"/>
            <a:ext cx="10058400" cy="777240"/>
          </a:xfrm>
          <a:prstGeom prst="rect">
            <a:avLst/>
          </a:prstGeom>
          <a:noFill/>
          <a:ln/>
        </p:spPr>
        <p:txBody>
          <a:bodyPr wrap="square" lIns="0" tIns="0" rIns="0" bIns="0" rtlCol="0" anchor="ctr"/>
          <a:lstStyle/>
          <a:p>
            <a:pPr marL="0" indent="0">
              <a:buNone/>
            </a:pPr>
            <a:r>
              <a:rPr lang="en-US" sz="1400" b="1" dirty="0">
                <a:solidFill>
                  <a:srgbClr val="F0A202"/>
                </a:solidFill>
                <a:latin typeface="Calibri" pitchFamily="34" charset="0"/>
                <a:ea typeface="Calibri" pitchFamily="34" charset="-122"/>
                <a:cs typeface="Calibri" pitchFamily="34" charset="-120"/>
              </a:rPr>
              <a:t>ROOT CAUSE:  </a:t>
            </a:r>
            <a:r>
              <a:rPr lang="en-US" sz="1400" dirty="0">
                <a:solidFill>
                  <a:srgbClr val="FFFFFF"/>
                </a:solidFill>
                <a:latin typeface="Calibri" pitchFamily="34" charset="0"/>
                <a:ea typeface="Calibri" pitchFamily="34" charset="-122"/>
                <a:cs typeface="Calibri" pitchFamily="34" charset="-120"/>
              </a:rPr>
              <a:t>energy data is collected but never converted into information anyone can act on in advance.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What Already Exists, and What It Misses</a:t>
            </a:r>
            <a:endParaRPr lang="en-US" sz="3400" dirty="0"/>
          </a:p>
        </p:txBody>
      </p:sp>
      <p:sp>
        <p:nvSpPr>
          <p:cNvPr id="3" name="Shape 1"/>
          <p:cNvSpPr/>
          <p:nvPr/>
        </p:nvSpPr>
        <p:spPr>
          <a:xfrm>
            <a:off x="11384280" y="384048"/>
            <a:ext cx="411480" cy="411480"/>
          </a:xfrm>
          <a:prstGeom prst="ellipse">
            <a:avLst/>
          </a:prstGeom>
          <a:solidFill>
            <a:srgbClr val="F0A202"/>
          </a:solidFill>
          <a:ln/>
        </p:spPr>
      </p:sp>
      <p:sp>
        <p:nvSpPr>
          <p:cNvPr id="4" name="Text 2"/>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234440"/>
          <a:ext cx="10698480" cy="3017520"/>
        </p:xfrm>
        <a:graphic>
          <a:graphicData uri="http://schemas.openxmlformats.org/drawingml/2006/table">
            <a:tbl>
              <a:tblPr/>
              <a:tblGrid>
                <a:gridCol w="3383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029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Existing approach</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 well</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falls short</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Manual meter reading and monthly bills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Cheap, familiar, needs no new hardware</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Purely backward looking, no detail below block level</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Smart meters and IoT dashboards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Real time visibility, room level data possible</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Show the present only, they do not predict anything</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Threshold alarms in building management systems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Simple to set up, instant alerts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Fixed limits, many false alarms, does not learn</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Statistical forecasting (ARIMA, linear regression)</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Works well when usage is steady</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Struggles with weather swings, holidays, timetable changes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Commercial energy analytics platforms</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Mature and accurate</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tc>
                  <a:txBody>
                    <a:bodyPr/>
                    <a:lstStyle/>
                    <a:p>
                      <a:pPr marL="0" indent="0">
                        <a:buNone/>
                      </a:pPr>
                      <a:r>
                        <a:rPr lang="en-US" sz="1200" dirty="0">
                          <a:solidFill>
                            <a:srgbClr val="0E2A38"/>
                          </a:solidFill>
                          <a:latin typeface="Calibri" pitchFamily="34" charset="0"/>
                          <a:ea typeface="Calibri" pitchFamily="34" charset="-122"/>
                          <a:cs typeface="Calibri" pitchFamily="34" charset="-120"/>
                        </a:rPr>
                        <a:t>Costly licences, built for industry, not for a college block</a:t>
                      </a:r>
                      <a:endParaRPr lang="en-US" sz="120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94360" y="4709160"/>
            <a:ext cx="10698480" cy="1371600"/>
          </a:xfrm>
          <a:prstGeom prst="roundRect">
            <a:avLst>
              <a:gd name="adj" fmla="val 4000"/>
            </a:avLst>
          </a:prstGeom>
          <a:solidFill>
            <a:srgbClr val="F3F6F7"/>
          </a:solidFill>
          <a:ln/>
        </p:spPr>
      </p:sp>
      <p:sp>
        <p:nvSpPr>
          <p:cNvPr id="5" name="Shape 4"/>
          <p:cNvSpPr/>
          <p:nvPr/>
        </p:nvSpPr>
        <p:spPr>
          <a:xfrm>
            <a:off x="914400" y="5029200"/>
            <a:ext cx="457200" cy="457200"/>
          </a:xfrm>
          <a:prstGeom prst="ellipse">
            <a:avLst/>
          </a:prstGeom>
          <a:solidFill>
            <a:srgbClr val="F0A202"/>
          </a:solidFill>
          <a:ln/>
        </p:spPr>
      </p:sp>
      <p:sp>
        <p:nvSpPr>
          <p:cNvPr id="8" name="Text 5"/>
          <p:cNvSpPr txBox="1"/>
          <p:nvPr/>
        </p:nvSpPr>
        <p:spPr>
          <a:xfrm>
            <a:off x="914400" y="5029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6"/>
          <p:cNvSpPr txBox="1"/>
          <p:nvPr/>
        </p:nvSpPr>
        <p:spPr>
          <a:xfrm>
            <a:off x="1600200" y="4937760"/>
            <a:ext cx="2743200" cy="320040"/>
          </a:xfrm>
          <a:prstGeom prst="rect">
            <a:avLst/>
          </a:prstGeom>
          <a:noFill/>
          <a:ln/>
        </p:spPr>
        <p:txBody>
          <a:bodyPr wrap="square" lIns="0" tIns="0" rIns="0" bIns="0" rtlCol="0" anchor="ctr"/>
          <a:lstStyle/>
          <a:p>
            <a:pPr marL="0" indent="0">
              <a:buNone/>
            </a:pPr>
            <a:r>
              <a:rPr lang="en-US" sz="1400" b="1" dirty="0">
                <a:solidFill>
                  <a:srgbClr val="0E2A38"/>
                </a:solidFill>
                <a:latin typeface="Calibri" pitchFamily="34" charset="0"/>
                <a:ea typeface="Calibri" pitchFamily="34" charset="-122"/>
                <a:cs typeface="Calibri" pitchFamily="34" charset="-120"/>
              </a:rPr>
              <a:t>The gap</a:t>
            </a:r>
            <a:endParaRPr lang="en-US" sz="1400" dirty="0"/>
          </a:p>
        </p:txBody>
      </p:sp>
      <p:sp>
        <p:nvSpPr>
          <p:cNvPr id="10" name="Text 7"/>
          <p:cNvSpPr txBox="1"/>
          <p:nvPr/>
        </p:nvSpPr>
        <p:spPr>
          <a:xfrm>
            <a:off x="1600200" y="5285232"/>
            <a:ext cx="9326880" cy="731520"/>
          </a:xfrm>
          <a:prstGeom prst="rect">
            <a:avLst/>
          </a:prstGeom>
          <a:noFill/>
          <a:ln/>
        </p:spPr>
        <p:txBody>
          <a:bodyPr wrap="square" lIns="0" tIns="0" rIns="0" bIns="0" rtlCol="0" anchor="ctr"/>
          <a:lstStyle/>
          <a:p>
            <a:pPr marL="0" indent="0">
              <a:buNone/>
            </a:pPr>
            <a:r>
              <a:rPr lang="en-US" sz="1250" dirty="0">
                <a:solidFill>
                  <a:srgbClr val="5A6B73"/>
                </a:solidFill>
                <a:latin typeface="Calibri" pitchFamily="34" charset="0"/>
                <a:ea typeface="Calibri" pitchFamily="34" charset="-122"/>
                <a:cs typeface="Calibri" pitchFamily="34" charset="-120"/>
              </a:rPr>
              <a:t>Every option above either reports the past or reacts to the present. None of them learns the building's own pattern and says what tomorrow will look like, at a cost a college department can actually afford.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Ten Ideas, Scored and Narrowed Down</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Each idea scored 1 to 5 on five criteria. Highest total wins.</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417320"/>
          <a:ext cx="10698480" cy="3822192"/>
        </p:xfrm>
        <a:graphic>
          <a:graphicData uri="http://schemas.openxmlformats.org/drawingml/2006/table">
            <a:tbl>
              <a:tblPr/>
              <a:tblGrid>
                <a:gridCol w="411480">
                  <a:extLst>
                    <a:ext uri="{9D8B030D-6E8A-4147-A177-3AD203B41FA5}">
                      <a16:colId xmlns:a16="http://schemas.microsoft.com/office/drawing/2014/main" val="20000"/>
                    </a:ext>
                  </a:extLst>
                </a:gridCol>
                <a:gridCol w="47091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1600200">
                  <a:extLst>
                    <a:ext uri="{9D8B030D-6E8A-4147-A177-3AD203B41FA5}">
                      <a16:colId xmlns:a16="http://schemas.microsoft.com/office/drawing/2014/main" val="20007"/>
                    </a:ext>
                  </a:extLst>
                </a:gridCol>
              </a:tblGrid>
              <a:tr h="34747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Idea considered</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Feas.</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Accu.</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Scale</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1B6B7A"/>
                    </a:solidFill>
                  </a:tcPr>
                </a:tc>
                <a:extLst>
                  <a:ext uri="{0D108BD9-81ED-4DB2-BD59-A6C34878D82A}">
                    <a16:rowId xmlns:a16="http://schemas.microsoft.com/office/drawing/2014/main" val="10000"/>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Manual logbook plus an Excel trend chart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13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Threshold alarm on the main meter</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15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IoT smart plugs for room level metering</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16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Occupancy sensors linked to switching</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15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ARIMA time series forecast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18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Regression using weather and timetable data</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21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LSTM deep learning forecast</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20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XGBoost with engineered time features</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21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E2A38"/>
                          </a:solidFill>
                          <a:latin typeface="Calibri" pitchFamily="34" charset="0"/>
                          <a:ea typeface="Calibri" pitchFamily="34" charset="-122"/>
                          <a:cs typeface="Calibri" pitchFamily="34" charset="-120"/>
                        </a:rPr>
                        <a:t>Digital twin simulation of the building</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E2A38"/>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B6B7A"/>
                          </a:solidFill>
                          <a:latin typeface="Calibri" pitchFamily="34" charset="0"/>
                          <a:ea typeface="Calibri" pitchFamily="34" charset="-122"/>
                          <a:cs typeface="Calibri" pitchFamily="34" charset="-120"/>
                        </a:rPr>
                        <a:t>11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Hybrid: ML forecast plus anomaly check plus dashboard</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0E2A38"/>
                    </a:solidFill>
                  </a:tcPr>
                </a:tc>
                <a:tc>
                  <a:txBody>
                    <a:bodyPr/>
                    <a:lstStyle/>
                    <a:p>
                      <a:pPr marL="0" indent="0" algn="ctr">
                        <a:buNone/>
                      </a:pPr>
                      <a:r>
                        <a:rPr lang="en-US" sz="1150" b="1" dirty="0">
                          <a:solidFill>
                            <a:srgbClr val="0E2A38"/>
                          </a:solidFill>
                          <a:latin typeface="Calibri" pitchFamily="34" charset="0"/>
                          <a:ea typeface="Calibri" pitchFamily="34" charset="-122"/>
                          <a:cs typeface="Calibri" pitchFamily="34" charset="-120"/>
                        </a:rPr>
                        <a:t>23 / 25</a:t>
                      </a:r>
                      <a:endParaRPr lang="en-US" sz="1150" dirty="0">
                        <a:latin typeface="Calibri" charset="0"/>
                        <a:ea typeface="Calibri" charset="0"/>
                        <a:cs typeface="Calibri" charset="0"/>
                      </a:endParaRPr>
                    </a:p>
                  </a:txBody>
                  <a:tcPr anchor="ctr">
                    <a:lnL w="12700" cap="flat" cmpd="sng" algn="ctr">
                      <a:solidFill>
                        <a:srgbClr val="DDE5E8"/>
                      </a:solidFill>
                      <a:prstDash val="solid"/>
                      <a:round/>
                      <a:headEnd type="none" w="med" len="med"/>
                      <a:tailEnd type="none" w="med" len="med"/>
                    </a:lnL>
                    <a:lnR w="12700" cap="flat" cmpd="sng" algn="ctr">
                      <a:solidFill>
                        <a:srgbClr val="DDE5E8"/>
                      </a:solidFill>
                      <a:prstDash val="solid"/>
                      <a:round/>
                      <a:headEnd type="none" w="med" len="med"/>
                      <a:tailEnd type="none" w="med" len="med"/>
                    </a:lnR>
                    <a:lnT w="12700" cap="flat" cmpd="sng" algn="ctr">
                      <a:solidFill>
                        <a:srgbClr val="DDE5E8"/>
                      </a:solidFill>
                      <a:prstDash val="solid"/>
                      <a:round/>
                      <a:headEnd type="none" w="med" len="med"/>
                      <a:tailEnd type="none" w="med" len="med"/>
                    </a:lnT>
                    <a:lnB w="12700" cap="flat" cmpd="sng" algn="ctr">
                      <a:solidFill>
                        <a:srgbClr val="DDE5E8"/>
                      </a:solidFill>
                      <a:prstDash val="solid"/>
                      <a:round/>
                      <a:headEnd type="none" w="med" len="med"/>
                      <a:tailEnd type="none" w="med" len="med"/>
                    </a:lnB>
                    <a:solidFill>
                      <a:srgbClr val="F0A202"/>
                    </a:solidFill>
                  </a:tcPr>
                </a:tc>
                <a:extLst>
                  <a:ext uri="{0D108BD9-81ED-4DB2-BD59-A6C34878D82A}">
                    <a16:rowId xmlns:a16="http://schemas.microsoft.com/office/drawing/2014/main" val="10010"/>
                  </a:ext>
                </a:extLst>
              </a:tr>
            </a:tbl>
          </a:graphicData>
        </a:graphic>
      </p:graphicFrame>
      <p:sp>
        <p:nvSpPr>
          <p:cNvPr id="7" name="Text 4"/>
          <p:cNvSpPr txBox="1"/>
          <p:nvPr/>
        </p:nvSpPr>
        <p:spPr>
          <a:xfrm>
            <a:off x="594360" y="5623560"/>
            <a:ext cx="10698480" cy="731520"/>
          </a:xfrm>
          <a:prstGeom prst="rect">
            <a:avLst/>
          </a:prstGeom>
          <a:noFill/>
          <a:ln/>
        </p:spPr>
        <p:txBody>
          <a:bodyPr wrap="square" lIns="0" tIns="0" rIns="0" bIns="0" rtlCol="0" anchor="ctr"/>
          <a:lstStyle/>
          <a:p>
            <a:pPr marL="0" indent="0">
              <a:buNone/>
            </a:pP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Proposed Solution: A Forecast and Alert Pipeline</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Idea 10, drawn out end to end</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6" name="Shape 4"/>
          <p:cNvSpPr/>
          <p:nvPr/>
        </p:nvSpPr>
        <p:spPr>
          <a:xfrm>
            <a:off x="594360" y="1600200"/>
            <a:ext cx="2487168" cy="2011680"/>
          </a:xfrm>
          <a:prstGeom prst="roundRect">
            <a:avLst>
              <a:gd name="adj" fmla="val 3182"/>
            </a:avLst>
          </a:prstGeom>
          <a:solidFill>
            <a:srgbClr val="F3F6F7"/>
          </a:solidFill>
          <a:ln/>
          <a:effectLst>
            <a:outerShdw blurRad="101600" dist="12700" dir="5400000" algn="bl" rotWithShape="0">
              <a:srgbClr val="BFCBD1">
                <a:alpha val="50000"/>
              </a:srgbClr>
            </a:outerShdw>
          </a:effectLst>
        </p:spPr>
      </p:sp>
      <p:sp>
        <p:nvSpPr>
          <p:cNvPr id="7" name="Text 5"/>
          <p:cNvSpPr txBox="1"/>
          <p:nvPr/>
        </p:nvSpPr>
        <p:spPr>
          <a:xfrm>
            <a:off x="777240" y="1783080"/>
            <a:ext cx="2121408" cy="292608"/>
          </a:xfrm>
          <a:prstGeom prst="rect">
            <a:avLst/>
          </a:prstGeom>
          <a:noFill/>
          <a:ln/>
        </p:spPr>
        <p:txBody>
          <a:bodyPr wrap="square" lIns="0" tIns="0" rIns="0" bIns="0" rtlCol="0" anchor="ctr"/>
          <a:lstStyle/>
          <a:p>
            <a:pPr marL="0" indent="0">
              <a:buNone/>
            </a:pPr>
            <a:r>
              <a:rPr lang="en-US" sz="1250" b="1" dirty="0">
                <a:solidFill>
                  <a:srgbClr val="1B6B7A"/>
                </a:solidFill>
                <a:latin typeface="Calibri" pitchFamily="34" charset="0"/>
                <a:ea typeface="Calibri" pitchFamily="34" charset="-122"/>
                <a:cs typeface="Calibri" pitchFamily="34" charset="-120"/>
              </a:rPr>
              <a:t>1. DATA INPUTS</a:t>
            </a:r>
            <a:endParaRPr lang="en-US" sz="1250" dirty="0"/>
          </a:p>
        </p:txBody>
      </p:sp>
      <p:sp>
        <p:nvSpPr>
          <p:cNvPr id="8" name="Text 6"/>
          <p:cNvSpPr txBox="1"/>
          <p:nvPr/>
        </p:nvSpPr>
        <p:spPr>
          <a:xfrm>
            <a:off x="777240" y="2121408"/>
            <a:ext cx="2167128" cy="1371600"/>
          </a:xfrm>
          <a:prstGeom prst="rect">
            <a:avLst/>
          </a:prstGeom>
          <a:noFill/>
          <a:ln/>
        </p:spPr>
        <p:txBody>
          <a:bodyPr wrap="square" lIns="0" tIns="0" rIns="0" bIns="0" rtlCol="0" anchor="ctr"/>
          <a:lstStyle/>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Meter readings every 15 min</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Class and lab timetable</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Weather (temp, humidity)</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Occupancy or headcount</a:t>
            </a:r>
            <a:endParaRPr lang="en-US" sz="1050" dirty="0"/>
          </a:p>
        </p:txBody>
      </p:sp>
      <p:sp>
        <p:nvSpPr>
          <p:cNvPr id="9" name="Shape 7"/>
          <p:cNvSpPr/>
          <p:nvPr/>
        </p:nvSpPr>
        <p:spPr>
          <a:xfrm>
            <a:off x="3136392" y="2450592"/>
            <a:ext cx="274320" cy="320040"/>
          </a:xfrm>
          <a:prstGeom prst="rightArrow">
            <a:avLst/>
          </a:prstGeom>
          <a:solidFill>
            <a:srgbClr val="F0A202"/>
          </a:solidFill>
          <a:ln/>
        </p:spPr>
      </p:sp>
      <p:sp>
        <p:nvSpPr>
          <p:cNvPr id="10" name="Shape 8"/>
          <p:cNvSpPr/>
          <p:nvPr/>
        </p:nvSpPr>
        <p:spPr>
          <a:xfrm>
            <a:off x="3465576" y="1600200"/>
            <a:ext cx="2487168" cy="2011680"/>
          </a:xfrm>
          <a:prstGeom prst="roundRect">
            <a:avLst>
              <a:gd name="adj" fmla="val 3182"/>
            </a:avLst>
          </a:prstGeom>
          <a:solidFill>
            <a:srgbClr val="F3F6F7"/>
          </a:solidFill>
          <a:ln/>
          <a:effectLst>
            <a:outerShdw blurRad="101600" dist="12700" dir="5400000" algn="bl" rotWithShape="0">
              <a:srgbClr val="BFCBD1">
                <a:alpha val="50000"/>
              </a:srgbClr>
            </a:outerShdw>
          </a:effectLst>
        </p:spPr>
      </p:sp>
      <p:sp>
        <p:nvSpPr>
          <p:cNvPr id="11" name="Text 9"/>
          <p:cNvSpPr txBox="1"/>
          <p:nvPr/>
        </p:nvSpPr>
        <p:spPr>
          <a:xfrm>
            <a:off x="3648456" y="1783080"/>
            <a:ext cx="2121408" cy="292608"/>
          </a:xfrm>
          <a:prstGeom prst="rect">
            <a:avLst/>
          </a:prstGeom>
          <a:noFill/>
          <a:ln/>
        </p:spPr>
        <p:txBody>
          <a:bodyPr wrap="square" lIns="0" tIns="0" rIns="0" bIns="0" rtlCol="0" anchor="ctr"/>
          <a:lstStyle/>
          <a:p>
            <a:pPr marL="0" indent="0">
              <a:buNone/>
            </a:pPr>
            <a:r>
              <a:rPr lang="en-US" sz="1250" b="1" dirty="0">
                <a:solidFill>
                  <a:srgbClr val="1B6B7A"/>
                </a:solidFill>
                <a:latin typeface="Calibri" pitchFamily="34" charset="0"/>
                <a:ea typeface="Calibri" pitchFamily="34" charset="-122"/>
                <a:cs typeface="Calibri" pitchFamily="34" charset="-120"/>
              </a:rPr>
              <a:t>2. PREPARATION</a:t>
            </a:r>
            <a:endParaRPr lang="en-US" sz="1250" dirty="0"/>
          </a:p>
        </p:txBody>
      </p:sp>
      <p:sp>
        <p:nvSpPr>
          <p:cNvPr id="12" name="Text 10"/>
          <p:cNvSpPr txBox="1"/>
          <p:nvPr/>
        </p:nvSpPr>
        <p:spPr>
          <a:xfrm>
            <a:off x="3648456" y="2121408"/>
            <a:ext cx="2167128" cy="1371600"/>
          </a:xfrm>
          <a:prstGeom prst="rect">
            <a:avLst/>
          </a:prstGeom>
          <a:noFill/>
          <a:ln/>
        </p:spPr>
        <p:txBody>
          <a:bodyPr wrap="square" lIns="0" tIns="0" rIns="0" bIns="0" rtlCol="0" anchor="ctr"/>
          <a:lstStyle/>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Fill missing readings</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Remove wrong entries</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Build features: hour, weekday,</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holiday flag, lag values</a:t>
            </a:r>
            <a:endParaRPr lang="en-US" sz="1050" dirty="0"/>
          </a:p>
        </p:txBody>
      </p:sp>
      <p:sp>
        <p:nvSpPr>
          <p:cNvPr id="13" name="Shape 11"/>
          <p:cNvSpPr/>
          <p:nvPr/>
        </p:nvSpPr>
        <p:spPr>
          <a:xfrm>
            <a:off x="6007608" y="2450592"/>
            <a:ext cx="274320" cy="320040"/>
          </a:xfrm>
          <a:prstGeom prst="rightArrow">
            <a:avLst/>
          </a:prstGeom>
          <a:solidFill>
            <a:srgbClr val="F0A202"/>
          </a:solidFill>
          <a:ln/>
        </p:spPr>
      </p:sp>
      <p:sp>
        <p:nvSpPr>
          <p:cNvPr id="14" name="Shape 12"/>
          <p:cNvSpPr/>
          <p:nvPr/>
        </p:nvSpPr>
        <p:spPr>
          <a:xfrm>
            <a:off x="6336792" y="1600200"/>
            <a:ext cx="2487168" cy="2011680"/>
          </a:xfrm>
          <a:prstGeom prst="roundRect">
            <a:avLst>
              <a:gd name="adj" fmla="val 3182"/>
            </a:avLst>
          </a:prstGeom>
          <a:solidFill>
            <a:srgbClr val="0E2A38"/>
          </a:solidFill>
          <a:ln/>
          <a:effectLst>
            <a:outerShdw blurRad="101600" dist="12700" dir="5400000" algn="bl" rotWithShape="0">
              <a:srgbClr val="BFCBD1">
                <a:alpha val="50000"/>
              </a:srgbClr>
            </a:outerShdw>
          </a:effectLst>
        </p:spPr>
      </p:sp>
      <p:sp>
        <p:nvSpPr>
          <p:cNvPr id="15" name="Text 13"/>
          <p:cNvSpPr txBox="1"/>
          <p:nvPr/>
        </p:nvSpPr>
        <p:spPr>
          <a:xfrm>
            <a:off x="6519672" y="1783080"/>
            <a:ext cx="2121408" cy="292608"/>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3. AI MODEL</a:t>
            </a:r>
            <a:endParaRPr lang="en-US" sz="1250" dirty="0"/>
          </a:p>
        </p:txBody>
      </p:sp>
      <p:sp>
        <p:nvSpPr>
          <p:cNvPr id="16" name="Text 14"/>
          <p:cNvSpPr txBox="1"/>
          <p:nvPr/>
        </p:nvSpPr>
        <p:spPr>
          <a:xfrm>
            <a:off x="6519672" y="2121408"/>
            <a:ext cx="2167128" cy="1371600"/>
          </a:xfrm>
          <a:prstGeom prst="rect">
            <a:avLst/>
          </a:prstGeom>
          <a:noFill/>
          <a:ln/>
        </p:spPr>
        <p:txBody>
          <a:bodyPr wrap="square" lIns="0" tIns="0" rIns="0" bIns="0"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XGBoost as the baseline</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LSTM for sequence patterns</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Trained on past data,</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tested on unseen weeks</a:t>
            </a:r>
            <a:endParaRPr lang="en-US" sz="1050" dirty="0"/>
          </a:p>
        </p:txBody>
      </p:sp>
      <p:sp>
        <p:nvSpPr>
          <p:cNvPr id="17" name="Shape 15"/>
          <p:cNvSpPr/>
          <p:nvPr/>
        </p:nvSpPr>
        <p:spPr>
          <a:xfrm>
            <a:off x="8878824" y="2450592"/>
            <a:ext cx="274320" cy="320040"/>
          </a:xfrm>
          <a:prstGeom prst="rightArrow">
            <a:avLst/>
          </a:prstGeom>
          <a:solidFill>
            <a:srgbClr val="F0A202"/>
          </a:solidFill>
          <a:ln/>
        </p:spPr>
      </p:sp>
      <p:sp>
        <p:nvSpPr>
          <p:cNvPr id="18" name="Shape 16"/>
          <p:cNvSpPr/>
          <p:nvPr/>
        </p:nvSpPr>
        <p:spPr>
          <a:xfrm>
            <a:off x="9208008" y="1600200"/>
            <a:ext cx="2487168" cy="2011680"/>
          </a:xfrm>
          <a:prstGeom prst="roundRect">
            <a:avLst>
              <a:gd name="adj" fmla="val 3182"/>
            </a:avLst>
          </a:prstGeom>
          <a:solidFill>
            <a:srgbClr val="F3F6F7"/>
          </a:solidFill>
          <a:ln/>
          <a:effectLst>
            <a:outerShdw blurRad="101600" dist="12700" dir="5400000" algn="bl" rotWithShape="0">
              <a:srgbClr val="BFCBD1">
                <a:alpha val="50000"/>
              </a:srgbClr>
            </a:outerShdw>
          </a:effectLst>
        </p:spPr>
      </p:sp>
      <p:sp>
        <p:nvSpPr>
          <p:cNvPr id="19" name="Text 17"/>
          <p:cNvSpPr txBox="1"/>
          <p:nvPr/>
        </p:nvSpPr>
        <p:spPr>
          <a:xfrm>
            <a:off x="9390888" y="1783080"/>
            <a:ext cx="2121408" cy="292608"/>
          </a:xfrm>
          <a:prstGeom prst="rect">
            <a:avLst/>
          </a:prstGeom>
          <a:noFill/>
          <a:ln/>
        </p:spPr>
        <p:txBody>
          <a:bodyPr wrap="square" lIns="0" tIns="0" rIns="0" bIns="0" rtlCol="0" anchor="ctr"/>
          <a:lstStyle/>
          <a:p>
            <a:pPr marL="0" indent="0">
              <a:buNone/>
            </a:pPr>
            <a:r>
              <a:rPr lang="en-US" sz="1250" b="1" dirty="0">
                <a:solidFill>
                  <a:srgbClr val="1B6B7A"/>
                </a:solidFill>
                <a:latin typeface="Calibri" pitchFamily="34" charset="0"/>
                <a:ea typeface="Calibri" pitchFamily="34" charset="-122"/>
                <a:cs typeface="Calibri" pitchFamily="34" charset="-120"/>
              </a:rPr>
              <a:t>4. OUTPUT</a:t>
            </a:r>
            <a:endParaRPr lang="en-US" sz="1250" dirty="0"/>
          </a:p>
        </p:txBody>
      </p:sp>
      <p:sp>
        <p:nvSpPr>
          <p:cNvPr id="20" name="Text 18"/>
          <p:cNvSpPr txBox="1"/>
          <p:nvPr/>
        </p:nvSpPr>
        <p:spPr>
          <a:xfrm>
            <a:off x="9390888" y="2121408"/>
            <a:ext cx="2167128" cy="1371600"/>
          </a:xfrm>
          <a:prstGeom prst="rect">
            <a:avLst/>
          </a:prstGeom>
          <a:noFill/>
          <a:ln/>
        </p:spPr>
        <p:txBody>
          <a:bodyPr wrap="square" lIns="0" tIns="0" rIns="0" bIns="0" rtlCol="0" anchor="ctr"/>
          <a:lstStyle/>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Next 24 hour and 7 day</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forecast curve</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Anomaly flag when actual</a:t>
            </a:r>
            <a:endParaRPr lang="en-US" sz="1050" dirty="0"/>
          </a:p>
          <a:p>
            <a:pPr marL="0" indent="0">
              <a:lnSpc>
                <a:spcPct val="115000"/>
              </a:lnSpc>
              <a:buNone/>
            </a:pPr>
            <a:r>
              <a:rPr lang="en-US" sz="1050" dirty="0">
                <a:solidFill>
                  <a:srgbClr val="5A6B73"/>
                </a:solidFill>
                <a:latin typeface="Calibri" pitchFamily="34" charset="0"/>
                <a:ea typeface="Calibri" pitchFamily="34" charset="-122"/>
                <a:cs typeface="Calibri" pitchFamily="34" charset="-120"/>
              </a:rPr>
              <a:t>drifts from predicted</a:t>
            </a:r>
            <a:endParaRPr lang="en-US" sz="1050" dirty="0"/>
          </a:p>
        </p:txBody>
      </p:sp>
      <p:sp>
        <p:nvSpPr>
          <p:cNvPr id="21" name="Shape 19"/>
          <p:cNvSpPr/>
          <p:nvPr/>
        </p:nvSpPr>
        <p:spPr>
          <a:xfrm>
            <a:off x="594360" y="3977640"/>
            <a:ext cx="5257800" cy="1234440"/>
          </a:xfrm>
          <a:prstGeom prst="roundRect">
            <a:avLst>
              <a:gd name="adj" fmla="val 5185"/>
            </a:avLst>
          </a:prstGeom>
          <a:solidFill>
            <a:srgbClr val="1B6B7A"/>
          </a:solidFill>
          <a:ln/>
        </p:spPr>
      </p:sp>
      <p:sp>
        <p:nvSpPr>
          <p:cNvPr id="22" name="Text 20"/>
          <p:cNvSpPr txBox="1"/>
          <p:nvPr/>
        </p:nvSpPr>
        <p:spPr>
          <a:xfrm>
            <a:off x="868680" y="4160520"/>
            <a:ext cx="4754880" cy="274320"/>
          </a:xfrm>
          <a:prstGeom prst="rect">
            <a:avLst/>
          </a:prstGeom>
          <a:noFill/>
          <a:ln/>
        </p:spPr>
        <p:txBody>
          <a:bodyPr wrap="square" lIns="0" tIns="0" rIns="0" bIns="0" rtlCol="0" anchor="ctr"/>
          <a:lstStyle/>
          <a:p>
            <a:pPr marL="0" indent="0">
              <a:buNone/>
            </a:pPr>
            <a:r>
              <a:rPr lang="en-US" sz="1250" b="1" dirty="0">
                <a:solidFill>
                  <a:srgbClr val="F0A202"/>
                </a:solidFill>
                <a:latin typeface="Calibri" pitchFamily="34" charset="0"/>
                <a:ea typeface="Calibri" pitchFamily="34" charset="-122"/>
                <a:cs typeface="Calibri" pitchFamily="34" charset="-120"/>
              </a:rPr>
              <a:t>5. DASHBOARD AND ALERTS</a:t>
            </a:r>
            <a:endParaRPr lang="en-US" sz="1250" dirty="0"/>
          </a:p>
        </p:txBody>
      </p:sp>
      <p:sp>
        <p:nvSpPr>
          <p:cNvPr id="23" name="Text 21"/>
          <p:cNvSpPr txBox="1"/>
          <p:nvPr/>
        </p:nvSpPr>
        <p:spPr>
          <a:xfrm>
            <a:off x="868680" y="4480560"/>
            <a:ext cx="4800600" cy="6400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Simple web dashboard showing predicted against actual usage, plus an email or message alert when an abnormal reading is flagged.</a:t>
            </a:r>
            <a:endParaRPr lang="en-US" sz="1100" dirty="0"/>
          </a:p>
        </p:txBody>
      </p:sp>
      <p:sp>
        <p:nvSpPr>
          <p:cNvPr id="24" name="Shape 22"/>
          <p:cNvSpPr/>
          <p:nvPr/>
        </p:nvSpPr>
        <p:spPr>
          <a:xfrm>
            <a:off x="6035040" y="3977640"/>
            <a:ext cx="5257800" cy="1234440"/>
          </a:xfrm>
          <a:prstGeom prst="roundRect">
            <a:avLst>
              <a:gd name="adj" fmla="val 5185"/>
            </a:avLst>
          </a:prstGeom>
          <a:solidFill>
            <a:srgbClr val="F3F6F7"/>
          </a:solidFill>
          <a:ln/>
        </p:spPr>
      </p:sp>
      <p:sp>
        <p:nvSpPr>
          <p:cNvPr id="25" name="Text 23"/>
          <p:cNvSpPr txBox="1"/>
          <p:nvPr/>
        </p:nvSpPr>
        <p:spPr>
          <a:xfrm>
            <a:off x="6309360" y="4160520"/>
            <a:ext cx="4754880" cy="274320"/>
          </a:xfrm>
          <a:prstGeom prst="rect">
            <a:avLst/>
          </a:prstGeom>
          <a:noFill/>
          <a:ln/>
        </p:spPr>
        <p:txBody>
          <a:bodyPr wrap="square" lIns="0" tIns="0" rIns="0" bIns="0" rtlCol="0" anchor="ctr"/>
          <a:lstStyle/>
          <a:p>
            <a:pPr marL="0" indent="0">
              <a:buNone/>
            </a:pPr>
            <a:r>
              <a:rPr lang="en-US" sz="1250" b="1" dirty="0">
                <a:solidFill>
                  <a:srgbClr val="1B6B7A"/>
                </a:solidFill>
                <a:latin typeface="Calibri" pitchFamily="34" charset="0"/>
                <a:ea typeface="Calibri" pitchFamily="34" charset="-122"/>
                <a:cs typeface="Calibri" pitchFamily="34" charset="-120"/>
              </a:rPr>
              <a:t>6. FEEDBACK LOOP</a:t>
            </a:r>
            <a:endParaRPr lang="en-US" sz="1250" dirty="0"/>
          </a:p>
        </p:txBody>
      </p:sp>
      <p:sp>
        <p:nvSpPr>
          <p:cNvPr id="26" name="Text 24"/>
          <p:cNvSpPr txBox="1"/>
          <p:nvPr/>
        </p:nvSpPr>
        <p:spPr>
          <a:xfrm>
            <a:off x="6309360" y="4480560"/>
            <a:ext cx="4800600" cy="640080"/>
          </a:xfrm>
          <a:prstGeom prst="rect">
            <a:avLst/>
          </a:prstGeom>
          <a:noFill/>
          <a:ln/>
        </p:spPr>
        <p:txBody>
          <a:bodyPr wrap="square" lIns="0" tIns="0" rIns="0" bIns="0" rtlCol="0" anchor="ctr"/>
          <a:lstStyle/>
          <a:p>
            <a:pPr marL="0" indent="0">
              <a:buNone/>
            </a:pPr>
            <a:r>
              <a:rPr lang="en-US" sz="1100" dirty="0">
                <a:solidFill>
                  <a:srgbClr val="5A6B73"/>
                </a:solidFill>
                <a:latin typeface="Calibri" pitchFamily="34" charset="0"/>
                <a:ea typeface="Calibri" pitchFamily="34" charset="-122"/>
                <a:cs typeface="Calibri" pitchFamily="34" charset="-120"/>
              </a:rPr>
              <a:t>Staff act on the alert. The new readings and the action taken go back into training, so the model is retrained weekly and keeps improving.</a:t>
            </a:r>
            <a:endParaRPr lang="en-US" sz="1100" dirty="0"/>
          </a:p>
        </p:txBody>
      </p:sp>
      <p:sp>
        <p:nvSpPr>
          <p:cNvPr id="27" name="Text 25"/>
          <p:cNvSpPr txBox="1"/>
          <p:nvPr/>
        </p:nvSpPr>
        <p:spPr>
          <a:xfrm>
            <a:off x="594360" y="5486400"/>
            <a:ext cx="10698480" cy="365760"/>
          </a:xfrm>
          <a:prstGeom prst="rect">
            <a:avLst/>
          </a:prstGeom>
          <a:noFill/>
          <a:ln/>
        </p:spPr>
        <p:txBody>
          <a:bodyPr wrap="square" lIns="0" tIns="0" rIns="0" bIns="0" rtlCol="0" anchor="ctr"/>
          <a:lstStyle/>
          <a:p>
            <a:pPr marL="0" indent="0">
              <a:buNone/>
            </a:pPr>
            <a:r>
              <a:rPr lang="en-US" sz="1150" i="1" dirty="0">
                <a:solidFill>
                  <a:srgbClr val="1B6B7A"/>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47472"/>
            <a:ext cx="10424160" cy="566928"/>
          </a:xfrm>
          <a:prstGeom prst="rect">
            <a:avLst/>
          </a:prstGeom>
          <a:noFill/>
          <a:ln/>
        </p:spPr>
        <p:txBody>
          <a:bodyPr wrap="square" lIns="0" tIns="0" rIns="0" bIns="0" rtlCol="0" anchor="ctr"/>
          <a:lstStyle/>
          <a:p>
            <a:pPr marL="0" indent="0">
              <a:buNone/>
            </a:pPr>
            <a:r>
              <a:rPr lang="en-US" sz="3400" b="1" dirty="0">
                <a:solidFill>
                  <a:srgbClr val="0E2A38"/>
                </a:solidFill>
                <a:latin typeface="Cambria" pitchFamily="34" charset="0"/>
                <a:ea typeface="Cambria" pitchFamily="34" charset="-122"/>
                <a:cs typeface="Cambria" pitchFamily="34" charset="-120"/>
              </a:rPr>
              <a:t>Expected Outcomes</a:t>
            </a:r>
            <a:endParaRPr lang="en-US" sz="3400" dirty="0"/>
          </a:p>
        </p:txBody>
      </p:sp>
      <p:sp>
        <p:nvSpPr>
          <p:cNvPr id="3" name="Text 1"/>
          <p:cNvSpPr txBox="1"/>
          <p:nvPr/>
        </p:nvSpPr>
        <p:spPr>
          <a:xfrm>
            <a:off x="594360" y="932688"/>
            <a:ext cx="10424160" cy="310896"/>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These are targets for the project, not results already achieved</a:t>
            </a:r>
            <a:endParaRPr lang="en-US" sz="1300" dirty="0"/>
          </a:p>
        </p:txBody>
      </p:sp>
      <p:sp>
        <p:nvSpPr>
          <p:cNvPr id="4" name="Shape 2"/>
          <p:cNvSpPr/>
          <p:nvPr/>
        </p:nvSpPr>
        <p:spPr>
          <a:xfrm>
            <a:off x="11384280" y="384048"/>
            <a:ext cx="411480" cy="411480"/>
          </a:xfrm>
          <a:prstGeom prst="ellipse">
            <a:avLst/>
          </a:prstGeom>
          <a:solidFill>
            <a:srgbClr val="F0A202"/>
          </a:solidFill>
          <a:ln/>
        </p:spPr>
      </p:sp>
      <p:sp>
        <p:nvSpPr>
          <p:cNvPr id="5" name="Text 3"/>
          <p:cNvSpPr txBox="1"/>
          <p:nvPr/>
        </p:nvSpPr>
        <p:spPr>
          <a:xfrm>
            <a:off x="11384280" y="38404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6" name="Shape 4"/>
          <p:cNvSpPr/>
          <p:nvPr/>
        </p:nvSpPr>
        <p:spPr>
          <a:xfrm>
            <a:off x="594360" y="1554480"/>
            <a:ext cx="4846320" cy="1234440"/>
          </a:xfrm>
          <a:prstGeom prst="roundRect">
            <a:avLst>
              <a:gd name="adj" fmla="val 5185"/>
            </a:avLst>
          </a:prstGeom>
          <a:solidFill>
            <a:srgbClr val="F3F6F7"/>
          </a:solidFill>
          <a:ln/>
        </p:spPr>
      </p:sp>
      <p:sp>
        <p:nvSpPr>
          <p:cNvPr id="7" name="Text 5"/>
          <p:cNvSpPr txBox="1"/>
          <p:nvPr/>
        </p:nvSpPr>
        <p:spPr>
          <a:xfrm>
            <a:off x="868680" y="1664208"/>
            <a:ext cx="4389120" cy="502920"/>
          </a:xfrm>
          <a:prstGeom prst="rect">
            <a:avLst/>
          </a:prstGeom>
          <a:noFill/>
          <a:ln/>
        </p:spPr>
        <p:txBody>
          <a:bodyPr wrap="square" lIns="0" tIns="0" rIns="0" bIns="0" rtlCol="0" anchor="ctr"/>
          <a:lstStyle/>
          <a:p>
            <a:pPr marL="0" indent="0">
              <a:buNone/>
            </a:pPr>
            <a:r>
              <a:rPr lang="en-US" sz="2800" b="1" dirty="0">
                <a:solidFill>
                  <a:srgbClr val="1B6B7A"/>
                </a:solidFill>
                <a:latin typeface="Cambria" pitchFamily="34" charset="0"/>
                <a:ea typeface="Cambria" pitchFamily="34" charset="-122"/>
                <a:cs typeface="Cambria" pitchFamily="34" charset="-120"/>
              </a:rPr>
              <a:t>24h + 7 day</a:t>
            </a:r>
            <a:endParaRPr lang="en-US" sz="2800" dirty="0"/>
          </a:p>
        </p:txBody>
      </p:sp>
      <p:sp>
        <p:nvSpPr>
          <p:cNvPr id="8" name="Text 6"/>
          <p:cNvSpPr txBox="1"/>
          <p:nvPr/>
        </p:nvSpPr>
        <p:spPr>
          <a:xfrm>
            <a:off x="868680" y="2194560"/>
            <a:ext cx="4343400" cy="502920"/>
          </a:xfrm>
          <a:prstGeom prst="rect">
            <a:avLst/>
          </a:prstGeom>
          <a:noFill/>
          <a:ln/>
        </p:spPr>
        <p:txBody>
          <a:bodyPr wrap="square" lIns="0" tIns="0" rIns="0" bIns="0" rtlCol="0" anchor="ctr"/>
          <a:lstStyle/>
          <a:p>
            <a:pPr marL="0" indent="0">
              <a:buNone/>
            </a:pPr>
            <a:r>
              <a:rPr lang="en-US" sz="1100" dirty="0">
                <a:solidFill>
                  <a:srgbClr val="5A6B73"/>
                </a:solidFill>
                <a:latin typeface="Calibri" pitchFamily="34" charset="0"/>
                <a:ea typeface="Calibri" pitchFamily="34" charset="-122"/>
                <a:cs typeface="Calibri" pitchFamily="34" charset="-120"/>
              </a:rPr>
              <a:t>forecast horizon for planning ahead</a:t>
            </a:r>
            <a:endParaRPr lang="en-US" sz="1100" dirty="0"/>
          </a:p>
        </p:txBody>
      </p:sp>
      <p:sp>
        <p:nvSpPr>
          <p:cNvPr id="9" name="Shape 7"/>
          <p:cNvSpPr/>
          <p:nvPr/>
        </p:nvSpPr>
        <p:spPr>
          <a:xfrm>
            <a:off x="594360" y="2971800"/>
            <a:ext cx="4846320" cy="1234440"/>
          </a:xfrm>
          <a:prstGeom prst="roundRect">
            <a:avLst>
              <a:gd name="adj" fmla="val 5185"/>
            </a:avLst>
          </a:prstGeom>
          <a:solidFill>
            <a:srgbClr val="0E2A38"/>
          </a:solidFill>
          <a:ln/>
        </p:spPr>
      </p:sp>
      <p:sp>
        <p:nvSpPr>
          <p:cNvPr id="10" name="Text 8"/>
          <p:cNvSpPr txBox="1"/>
          <p:nvPr/>
        </p:nvSpPr>
        <p:spPr>
          <a:xfrm>
            <a:off x="868680" y="3081528"/>
            <a:ext cx="4389120" cy="502920"/>
          </a:xfrm>
          <a:prstGeom prst="rect">
            <a:avLst/>
          </a:prstGeom>
          <a:noFill/>
          <a:ln/>
        </p:spPr>
        <p:txBody>
          <a:bodyPr wrap="square" lIns="0" tIns="0" rIns="0" bIns="0" rtlCol="0" anchor="ctr"/>
          <a:lstStyle/>
          <a:p>
            <a:pPr marL="0" indent="0">
              <a:buNone/>
            </a:pPr>
            <a:r>
              <a:rPr lang="en-US" sz="2800" b="1" dirty="0">
                <a:solidFill>
                  <a:srgbClr val="F0A202"/>
                </a:solidFill>
                <a:latin typeface="Cambria" pitchFamily="34" charset="0"/>
                <a:ea typeface="Cambria" pitchFamily="34" charset="-122"/>
                <a:cs typeface="Cambria" pitchFamily="34" charset="-120"/>
              </a:rPr>
              <a:t>under 10%</a:t>
            </a:r>
            <a:endParaRPr lang="en-US" sz="2800" dirty="0"/>
          </a:p>
        </p:txBody>
      </p:sp>
      <p:sp>
        <p:nvSpPr>
          <p:cNvPr id="11" name="Text 9"/>
          <p:cNvSpPr txBox="1"/>
          <p:nvPr/>
        </p:nvSpPr>
        <p:spPr>
          <a:xfrm>
            <a:off x="868680" y="3611880"/>
            <a:ext cx="4343400" cy="502920"/>
          </a:xfrm>
          <a:prstGeom prst="rect">
            <a:avLst/>
          </a:prstGeom>
          <a:noFill/>
          <a:ln/>
        </p:spPr>
        <p:txBody>
          <a:bodyPr wrap="square" lIns="0" tIns="0" rIns="0" bIns="0" rtlCol="0" anchor="ctr"/>
          <a:lstStyle/>
          <a:p>
            <a:pPr marL="0" indent="0">
              <a:buNone/>
            </a:pPr>
            <a:r>
              <a:rPr lang="en-US" sz="1100" dirty="0">
                <a:solidFill>
                  <a:srgbClr val="D6E2E6"/>
                </a:solidFill>
                <a:latin typeface="Calibri" pitchFamily="34" charset="0"/>
                <a:ea typeface="Calibri" pitchFamily="34" charset="-122"/>
                <a:cs typeface="Calibri" pitchFamily="34" charset="-120"/>
              </a:rPr>
              <a:t>average error (MAPE) targeted on unseen data</a:t>
            </a:r>
            <a:endParaRPr lang="en-US" sz="1100" dirty="0"/>
          </a:p>
        </p:txBody>
      </p:sp>
      <p:sp>
        <p:nvSpPr>
          <p:cNvPr id="12" name="Shape 10"/>
          <p:cNvSpPr/>
          <p:nvPr/>
        </p:nvSpPr>
        <p:spPr>
          <a:xfrm>
            <a:off x="594360" y="4389120"/>
            <a:ext cx="4846320" cy="1234440"/>
          </a:xfrm>
          <a:prstGeom prst="roundRect">
            <a:avLst>
              <a:gd name="adj" fmla="val 5185"/>
            </a:avLst>
          </a:prstGeom>
          <a:solidFill>
            <a:srgbClr val="F3F6F7"/>
          </a:solidFill>
          <a:ln/>
        </p:spPr>
      </p:sp>
      <p:sp>
        <p:nvSpPr>
          <p:cNvPr id="13" name="Text 11"/>
          <p:cNvSpPr txBox="1"/>
          <p:nvPr/>
        </p:nvSpPr>
        <p:spPr>
          <a:xfrm>
            <a:off x="868680" y="4498848"/>
            <a:ext cx="4389120" cy="502920"/>
          </a:xfrm>
          <a:prstGeom prst="rect">
            <a:avLst/>
          </a:prstGeom>
          <a:noFill/>
          <a:ln/>
        </p:spPr>
        <p:txBody>
          <a:bodyPr wrap="square" lIns="0" tIns="0" rIns="0" bIns="0" rtlCol="0" anchor="ctr"/>
          <a:lstStyle/>
          <a:p>
            <a:pPr marL="0" indent="0">
              <a:buNone/>
            </a:pPr>
            <a:r>
              <a:rPr lang="en-US" sz="2800" b="1" dirty="0">
                <a:solidFill>
                  <a:srgbClr val="1B6B7A"/>
                </a:solidFill>
                <a:latin typeface="Cambria" pitchFamily="34" charset="0"/>
                <a:ea typeface="Cambria" pitchFamily="34" charset="-122"/>
                <a:cs typeface="Cambria" pitchFamily="34" charset="-120"/>
              </a:rPr>
              <a:t>10 to 15%</a:t>
            </a:r>
            <a:endParaRPr lang="en-US" sz="2800" dirty="0"/>
          </a:p>
        </p:txBody>
      </p:sp>
      <p:sp>
        <p:nvSpPr>
          <p:cNvPr id="14" name="Text 12"/>
          <p:cNvSpPr txBox="1"/>
          <p:nvPr/>
        </p:nvSpPr>
        <p:spPr>
          <a:xfrm>
            <a:off x="868680" y="5029200"/>
            <a:ext cx="4343400" cy="502920"/>
          </a:xfrm>
          <a:prstGeom prst="rect">
            <a:avLst/>
          </a:prstGeom>
          <a:noFill/>
          <a:ln/>
        </p:spPr>
        <p:txBody>
          <a:bodyPr wrap="square" lIns="0" tIns="0" rIns="0" bIns="0" rtlCol="0" anchor="ctr"/>
          <a:lstStyle/>
          <a:p>
            <a:pPr marL="0" indent="0">
              <a:buNone/>
            </a:pPr>
            <a:r>
              <a:rPr lang="en-US" sz="1100" dirty="0">
                <a:solidFill>
                  <a:srgbClr val="5A6B73"/>
                </a:solidFill>
                <a:latin typeface="Calibri" pitchFamily="34" charset="0"/>
                <a:ea typeface="Calibri" pitchFamily="34" charset="-122"/>
                <a:cs typeface="Calibri" pitchFamily="34" charset="-120"/>
              </a:rPr>
              <a:t>saving reported in similar studies, actual figure depends on whether alerts are acted on</a:t>
            </a:r>
            <a:endParaRPr lang="en-US" sz="1100" dirty="0"/>
          </a:p>
        </p:txBody>
      </p:sp>
      <p:sp>
        <p:nvSpPr>
          <p:cNvPr id="15" name="Text 13"/>
          <p:cNvSpPr txBox="1"/>
          <p:nvPr/>
        </p:nvSpPr>
        <p:spPr>
          <a:xfrm>
            <a:off x="5806440" y="1572768"/>
            <a:ext cx="5486400" cy="292608"/>
          </a:xfrm>
          <a:prstGeom prst="rect">
            <a:avLst/>
          </a:prstGeom>
          <a:noFill/>
          <a:ln/>
        </p:spPr>
        <p:txBody>
          <a:bodyPr wrap="square" lIns="0" tIns="0" rIns="0" bIns="0" rtlCol="0" anchor="ctr"/>
          <a:lstStyle/>
          <a:p>
            <a:pPr marL="0" indent="0">
              <a:buNone/>
            </a:pPr>
            <a:r>
              <a:rPr lang="en-US" sz="1200" b="1" dirty="0">
                <a:solidFill>
                  <a:srgbClr val="0E2A38"/>
                </a:solidFill>
                <a:latin typeface="Calibri" pitchFamily="34" charset="0"/>
                <a:ea typeface="Calibri" pitchFamily="34" charset="-122"/>
                <a:cs typeface="Calibri" pitchFamily="34" charset="-120"/>
              </a:rPr>
              <a:t>Illustrative output: predicted against actual load</a:t>
            </a:r>
            <a:endParaRPr lang="en-US" sz="1200" dirty="0"/>
          </a:p>
        </p:txBody>
      </p:sp>
      <p:graphicFrame>
        <p:nvGraphicFramePr>
          <p:cNvPr id="16" name="Chart 0"/>
          <p:cNvGraphicFramePr/>
          <p:nvPr/>
        </p:nvGraphicFramePr>
        <p:xfrm>
          <a:off x="5806440" y="1920240"/>
          <a:ext cx="54864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txBox="1"/>
          <p:nvPr/>
        </p:nvSpPr>
        <p:spPr>
          <a:xfrm>
            <a:off x="5806440" y="4983480"/>
            <a:ext cx="5486400" cy="457200"/>
          </a:xfrm>
          <a:prstGeom prst="rect">
            <a:avLst/>
          </a:prstGeom>
          <a:noFill/>
          <a:ln/>
        </p:spPr>
        <p:txBody>
          <a:bodyPr wrap="square" lIns="0" tIns="0" rIns="0" bIns="0" rtlCol="0" anchor="ctr"/>
          <a:lstStyle/>
          <a:p>
            <a:pPr marL="0" indent="0">
              <a:buNone/>
            </a:pPr>
            <a:r>
              <a:rPr lang="en-US" sz="1000" i="1" dirty="0">
                <a:solidFill>
                  <a:srgbClr val="5A6B73"/>
                </a:solidFill>
                <a:latin typeface="Calibri" pitchFamily="34" charset="0"/>
                <a:ea typeface="Calibri" pitchFamily="34" charset="-122"/>
                <a:cs typeface="Calibri" pitchFamily="34" charset="-120"/>
              </a:rPr>
              <a:t>Sample shape only. Made up numbers used to show what the dashboard would display across one day.</a:t>
            </a:r>
            <a:endParaRPr lang="en-US" sz="1000" dirty="0"/>
          </a:p>
        </p:txBody>
      </p:sp>
      <p:sp>
        <p:nvSpPr>
          <p:cNvPr id="18" name="Text 15"/>
          <p:cNvSpPr txBox="1"/>
          <p:nvPr/>
        </p:nvSpPr>
        <p:spPr>
          <a:xfrm>
            <a:off x="594360" y="5806440"/>
            <a:ext cx="10698480" cy="457200"/>
          </a:xfrm>
          <a:prstGeom prst="rect">
            <a:avLst/>
          </a:prstGeom>
          <a:noFill/>
          <a:ln/>
        </p:spPr>
        <p:txBody>
          <a:bodyPr wrap="square" lIns="0" tIns="0" rIns="0" bIns="0" rtlCol="0" anchor="ctr"/>
          <a:lstStyle/>
          <a:p>
            <a:pPr marL="0" indent="0">
              <a:buNone/>
            </a:pPr>
            <a:endParaRPr lang="en-US" sz="1200" i="1" dirty="0">
              <a:solidFill>
                <a:srgbClr val="1B6B7A"/>
              </a:solidFill>
              <a:latin typeface="Calibri" pitchFamily="34" charset="0"/>
              <a:ea typeface="Calibri" pitchFamily="34" charset="-122"/>
              <a:cs typeface="Calibri" pitchFamily="34" charset="-120"/>
            </a:endParaRPr>
          </a:p>
          <a:p>
            <a:pPr marL="0" indent="0">
              <a:buNone/>
            </a:pPr>
            <a:r>
              <a:rPr lang="en-US" sz="1200" i="1" dirty="0">
                <a:solidFill>
                  <a:srgbClr val="1B6B7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38"/>
        </a:solidFill>
        <a:effectLst/>
      </p:bgPr>
    </p:bg>
    <p:spTree>
      <p:nvGrpSpPr>
        <p:cNvPr id="1" name=""/>
        <p:cNvGrpSpPr/>
        <p:nvPr/>
      </p:nvGrpSpPr>
      <p:grpSpPr>
        <a:xfrm>
          <a:off x="0" y="0"/>
          <a:ext cx="0" cy="0"/>
          <a:chOff x="0" y="0"/>
          <a:chExt cx="0" cy="0"/>
        </a:xfrm>
      </p:grpSpPr>
      <p:sp>
        <p:nvSpPr>
          <p:cNvPr id="2" name="Text 0"/>
          <p:cNvSpPr txBox="1"/>
          <p:nvPr/>
        </p:nvSpPr>
        <p:spPr>
          <a:xfrm>
            <a:off x="594360" y="457200"/>
            <a:ext cx="1042416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594360" y="1371600"/>
            <a:ext cx="292608" cy="292608"/>
          </a:xfrm>
          <a:prstGeom prst="ellipse">
            <a:avLst/>
          </a:prstGeom>
          <a:solidFill>
            <a:srgbClr val="F0A202"/>
          </a:solidFill>
          <a:ln/>
        </p:spPr>
      </p:sp>
      <p:sp>
        <p:nvSpPr>
          <p:cNvPr id="4" name="Text 2"/>
          <p:cNvSpPr txBox="1"/>
          <p:nvPr/>
        </p:nvSpPr>
        <p:spPr>
          <a:xfrm>
            <a:off x="1097280" y="1325880"/>
            <a:ext cx="10058400" cy="640080"/>
          </a:xfrm>
          <a:prstGeom prst="rect">
            <a:avLst/>
          </a:prstGeom>
          <a:noFill/>
          <a:ln/>
        </p:spPr>
        <p:txBody>
          <a:bodyPr wrap="square" lIns="0" tIns="0" rIns="0" bIns="0" rtlCol="0" anchor="ctr"/>
          <a:lstStyle/>
          <a:p>
            <a:pPr marL="0" indent="0">
              <a:buNone/>
            </a:pPr>
            <a:r>
              <a:rPr lang="en-US" sz="1350" dirty="0">
                <a:solidFill>
                  <a:srgbClr val="E3EBEE"/>
                </a:solidFill>
                <a:latin typeface="Calibri" pitchFamily="34" charset="0"/>
                <a:ea typeface="Calibri" pitchFamily="34" charset="-122"/>
                <a:cs typeface="Calibri" pitchFamily="34" charset="-120"/>
              </a:rPr>
              <a:t>The waste is real and I saw it, but the root cause is not careless people. It is data that is collected and never used in time.</a:t>
            </a:r>
            <a:endParaRPr lang="en-US" sz="1350" dirty="0"/>
          </a:p>
        </p:txBody>
      </p:sp>
      <p:sp>
        <p:nvSpPr>
          <p:cNvPr id="5" name="Shape 3"/>
          <p:cNvSpPr/>
          <p:nvPr/>
        </p:nvSpPr>
        <p:spPr>
          <a:xfrm>
            <a:off x="594360" y="2121408"/>
            <a:ext cx="292608" cy="292608"/>
          </a:xfrm>
          <a:prstGeom prst="ellipse">
            <a:avLst/>
          </a:prstGeom>
          <a:solidFill>
            <a:srgbClr val="F0A202"/>
          </a:solidFill>
          <a:ln/>
        </p:spPr>
      </p:sp>
      <p:sp>
        <p:nvSpPr>
          <p:cNvPr id="6" name="Text 4"/>
          <p:cNvSpPr txBox="1"/>
          <p:nvPr/>
        </p:nvSpPr>
        <p:spPr>
          <a:xfrm>
            <a:off x="1097280" y="2075688"/>
            <a:ext cx="10058400" cy="640080"/>
          </a:xfrm>
          <a:prstGeom prst="rect">
            <a:avLst/>
          </a:prstGeom>
          <a:noFill/>
          <a:ln/>
        </p:spPr>
        <p:txBody>
          <a:bodyPr wrap="square" lIns="0" tIns="0" rIns="0" bIns="0" rtlCol="0" anchor="ctr"/>
          <a:lstStyle/>
          <a:p>
            <a:pPr marL="0" indent="0">
              <a:buNone/>
            </a:pPr>
            <a:r>
              <a:rPr lang="en-US" sz="1350" dirty="0">
                <a:solidFill>
                  <a:srgbClr val="E3EBEE"/>
                </a:solidFill>
                <a:latin typeface="Calibri" pitchFamily="34" charset="0"/>
                <a:ea typeface="Calibri" pitchFamily="34" charset="-122"/>
                <a:cs typeface="Calibri" pitchFamily="34" charset="-120"/>
              </a:rPr>
              <a:t>A prediction model turns the same meter readings the college already has into a warning before the energy is spent.</a:t>
            </a:r>
            <a:endParaRPr lang="en-US" sz="1350" dirty="0"/>
          </a:p>
        </p:txBody>
      </p:sp>
      <p:sp>
        <p:nvSpPr>
          <p:cNvPr id="7" name="Shape 5"/>
          <p:cNvSpPr/>
          <p:nvPr/>
        </p:nvSpPr>
        <p:spPr>
          <a:xfrm>
            <a:off x="594360" y="2871216"/>
            <a:ext cx="292608" cy="292608"/>
          </a:xfrm>
          <a:prstGeom prst="ellipse">
            <a:avLst/>
          </a:prstGeom>
          <a:solidFill>
            <a:srgbClr val="F0A202"/>
          </a:solidFill>
          <a:ln/>
        </p:spPr>
      </p:sp>
      <p:sp>
        <p:nvSpPr>
          <p:cNvPr id="8" name="Text 6"/>
          <p:cNvSpPr txBox="1"/>
          <p:nvPr/>
        </p:nvSpPr>
        <p:spPr>
          <a:xfrm>
            <a:off x="1097280" y="2825496"/>
            <a:ext cx="10058400" cy="640080"/>
          </a:xfrm>
          <a:prstGeom prst="rect">
            <a:avLst/>
          </a:prstGeom>
          <a:noFill/>
          <a:ln/>
        </p:spPr>
        <p:txBody>
          <a:bodyPr wrap="square" lIns="0" tIns="0" rIns="0" bIns="0" rtlCol="0" anchor="ctr"/>
          <a:lstStyle/>
          <a:p>
            <a:pPr marL="0" indent="0">
              <a:buNone/>
            </a:pPr>
            <a:r>
              <a:rPr lang="en-US" sz="1350" dirty="0">
                <a:solidFill>
                  <a:srgbClr val="E3EBEE"/>
                </a:solidFill>
                <a:latin typeface="Calibri" pitchFamily="34" charset="0"/>
                <a:ea typeface="Calibri" pitchFamily="34" charset="-122"/>
                <a:cs typeface="Calibri" pitchFamily="34" charset="-120"/>
              </a:rPr>
              <a:t>Scored against nine other options, a hybrid of forecasting, anomaly detection and a simple dashboard was the most workable choice for a college block.</a:t>
            </a:r>
            <a:endParaRPr lang="en-US" sz="1350" dirty="0"/>
          </a:p>
        </p:txBody>
      </p:sp>
      <p:sp>
        <p:nvSpPr>
          <p:cNvPr id="9" name="Shape 7"/>
          <p:cNvSpPr/>
          <p:nvPr/>
        </p:nvSpPr>
        <p:spPr>
          <a:xfrm>
            <a:off x="594360" y="3621024"/>
            <a:ext cx="292608" cy="292608"/>
          </a:xfrm>
          <a:prstGeom prst="ellipse">
            <a:avLst/>
          </a:prstGeom>
          <a:solidFill>
            <a:srgbClr val="F0A202"/>
          </a:solidFill>
          <a:ln/>
        </p:spPr>
      </p:sp>
      <p:sp>
        <p:nvSpPr>
          <p:cNvPr id="10" name="Text 8"/>
          <p:cNvSpPr txBox="1"/>
          <p:nvPr/>
        </p:nvSpPr>
        <p:spPr>
          <a:xfrm>
            <a:off x="1097280" y="3575304"/>
            <a:ext cx="10058400" cy="640080"/>
          </a:xfrm>
          <a:prstGeom prst="rect">
            <a:avLst/>
          </a:prstGeom>
          <a:noFill/>
          <a:ln/>
        </p:spPr>
        <p:txBody>
          <a:bodyPr wrap="square" lIns="0" tIns="0" rIns="0" bIns="0" rtlCol="0" anchor="ctr"/>
          <a:lstStyle/>
          <a:p>
            <a:pPr marL="0" indent="0">
              <a:buNone/>
            </a:pPr>
            <a:r>
              <a:rPr lang="en-US" sz="1350" dirty="0">
                <a:solidFill>
                  <a:srgbClr val="E3EBEE"/>
                </a:solidFill>
                <a:latin typeface="Calibri" pitchFamily="34" charset="0"/>
                <a:ea typeface="Calibri" pitchFamily="34" charset="-122"/>
                <a:cs typeface="Calibri" pitchFamily="34" charset="-120"/>
              </a:rPr>
              <a:t>The honest limit: the model is only as good as the data behind it, and any saving depends on someone acting on the alert.</a:t>
            </a:r>
            <a:endParaRPr lang="en-US" sz="1350" dirty="0"/>
          </a:p>
        </p:txBody>
      </p:sp>
      <p:sp>
        <p:nvSpPr>
          <p:cNvPr id="11" name="Shape 9"/>
          <p:cNvSpPr/>
          <p:nvPr/>
        </p:nvSpPr>
        <p:spPr>
          <a:xfrm>
            <a:off x="594360" y="4526280"/>
            <a:ext cx="10698480" cy="1600200"/>
          </a:xfrm>
          <a:prstGeom prst="roundRect">
            <a:avLst>
              <a:gd name="adj" fmla="val 4000"/>
            </a:avLst>
          </a:prstGeom>
          <a:solidFill>
            <a:srgbClr val="1B6B7A"/>
          </a:solidFill>
          <a:ln/>
        </p:spPr>
      </p:sp>
      <p:sp>
        <p:nvSpPr>
          <p:cNvPr id="12" name="Text 10"/>
          <p:cNvSpPr txBox="1"/>
          <p:nvPr/>
        </p:nvSpPr>
        <p:spPr>
          <a:xfrm>
            <a:off x="914400" y="4709160"/>
            <a:ext cx="5486400" cy="320040"/>
          </a:xfrm>
          <a:prstGeom prst="rect">
            <a:avLst/>
          </a:prstGeom>
          <a:noFill/>
          <a:ln/>
        </p:spPr>
        <p:txBody>
          <a:bodyPr wrap="square" lIns="0" tIns="0" rIns="0" bIns="0" rtlCol="0" anchor="ctr"/>
          <a:lstStyle/>
          <a:p>
            <a:pPr marL="0" indent="0">
              <a:buNone/>
            </a:pPr>
            <a:r>
              <a:rPr lang="en-US" sz="1500" b="1" dirty="0">
                <a:solidFill>
                  <a:srgbClr val="F0A202"/>
                </a:solidFill>
                <a:latin typeface="Calibri" pitchFamily="34" charset="0"/>
                <a:ea typeface="Calibri" pitchFamily="34" charset="-122"/>
                <a:cs typeface="Calibri" pitchFamily="34" charset="-120"/>
              </a:rPr>
              <a:t>AI Usage Declaration</a:t>
            </a:r>
            <a:endParaRPr lang="en-US" sz="1500" dirty="0"/>
          </a:p>
        </p:txBody>
      </p:sp>
      <p:sp>
        <p:nvSpPr>
          <p:cNvPr id="13" name="Text 11"/>
          <p:cNvSpPr txBox="1"/>
          <p:nvPr/>
        </p:nvSpPr>
        <p:spPr>
          <a:xfrm>
            <a:off x="914400" y="5074920"/>
            <a:ext cx="100584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AI assistant was used to help structure these slides and to improve the wording. The topic, the field observations, the five whys, the idea list and the scoring were done by me. Every AI generated line was read, checked and edited before it went into this presentation. No result or figure in this deck has been presented as measured data.</a:t>
            </a:r>
            <a:endParaRPr lang="en-US" sz="1200" dirty="0"/>
          </a:p>
        </p:txBody>
      </p:sp>
      <p:sp>
        <p:nvSpPr>
          <p:cNvPr id="14" name="Text 12"/>
          <p:cNvSpPr txBox="1"/>
          <p:nvPr/>
        </p:nvSpPr>
        <p:spPr>
          <a:xfrm>
            <a:off x="594360" y="6309360"/>
            <a:ext cx="10698480" cy="320040"/>
          </a:xfrm>
          <a:prstGeom prst="rect">
            <a:avLst/>
          </a:prstGeom>
          <a:noFill/>
          <a:ln/>
        </p:spPr>
        <p:txBody>
          <a:bodyPr wrap="square" lIns="0" tIns="0" rIns="0" bIns="0" rtlCol="0" anchor="ctr"/>
          <a:lstStyle/>
          <a:p>
            <a:pPr marL="0" indent="0">
              <a:buNone/>
            </a:pPr>
            <a:r>
              <a:rPr lang="en-US" sz="1100" dirty="0">
                <a:solidFill>
                  <a:srgbClr val="8FA6B0"/>
                </a:solidFill>
                <a:latin typeface="Calibri" pitchFamily="34" charset="0"/>
                <a:ea typeface="Calibri" pitchFamily="34" charset="-122"/>
                <a:cs typeface="Calibri" pitchFamily="34" charset="-120"/>
              </a:rPr>
              <a:t>Thank you  |  Dharshini, Computer Science Department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1634</Words>
  <Application>Microsoft Office PowerPoint</Application>
  <PresentationFormat>Widescreen</PresentationFormat>
  <Paragraphs>262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Energy Usage Prediction</dc:title>
  <dc:subject>PptxGenJS Presentation</dc:subject>
  <dc:creator>Dharshini</dc:creator>
  <cp:lastModifiedBy>Aravindh Sivakumar</cp:lastModifiedBy>
  <cp:revision>2</cp:revision>
  <dcterms:created xsi:type="dcterms:W3CDTF">2026-09-03T16:26:37Z</dcterms:created>
  <dcterms:modified xsi:type="dcterms:W3CDTF">2026-09-04T05:58:14Z</dcterms:modified>
</cp:coreProperties>
</file>